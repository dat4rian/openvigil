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006a46e79e4c7b" /><Relationship Type="http://schemas.openxmlformats.org/officeDocument/2006/relationships/extended-properties" Target="/docProps/app.xml" Id="R1564f04657664751" /><Relationship Type="http://schemas.openxmlformats.org/officeDocument/2006/relationships/officeDocument" Target="/ppt/presentation.xml" Id="R2d973ad878b340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95898a492b4ac3"/>
  </p:sldMasterIdLst>
  <p:notesMasterIdLst>
    <p:notesMasterId xmlns:r="http://schemas.openxmlformats.org/officeDocument/2006/relationships" r:id="R7e415ff064374c95"/>
  </p:notesMasterIdLst>
  <p:sldIdLst>
    <p:sldId xmlns:r="http://schemas.openxmlformats.org/officeDocument/2006/relationships" id="256" r:id="R1e54469acc424bb0"/>
    <p:sldId xmlns:r="http://schemas.openxmlformats.org/officeDocument/2006/relationships" id="257" r:id="R41c84c5f77e34075"/>
    <p:sldId xmlns:r="http://schemas.openxmlformats.org/officeDocument/2006/relationships" id="258" r:id="R29eb08830a2045e7"/>
    <p:sldId xmlns:r="http://schemas.openxmlformats.org/officeDocument/2006/relationships" id="259" r:id="Rcc375867bc53420c"/>
    <p:sldId xmlns:r="http://schemas.openxmlformats.org/officeDocument/2006/relationships" id="260" r:id="Rfe7a5ef3bb4d478b"/>
    <p:sldId xmlns:r="http://schemas.openxmlformats.org/officeDocument/2006/relationships" id="261" r:id="Ra86146f00d9b4a2d"/>
    <p:sldId xmlns:r="http://schemas.openxmlformats.org/officeDocument/2006/relationships" id="262" r:id="Rf06b6b4c92764599"/>
    <p:sldId xmlns:r="http://schemas.openxmlformats.org/officeDocument/2006/relationships" id="263" r:id="R5393e120a45143c7"/>
    <p:sldId xmlns:r="http://schemas.openxmlformats.org/officeDocument/2006/relationships" id="264" r:id="Rbc28c129e0634b9b"/>
    <p:sldId xmlns:r="http://schemas.openxmlformats.org/officeDocument/2006/relationships" id="265" r:id="R0378b695337446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8e87d799fb4f59" /><Relationship Type="http://schemas.openxmlformats.org/officeDocument/2006/relationships/slideMaster" Target="/ppt/slideMasters/slideMaster1.xml" Id="R8695898a492b4ac3" /><Relationship Type="http://schemas.openxmlformats.org/officeDocument/2006/relationships/notesMaster" Target="/ppt/notesMasters/notesMaster1.xml" Id="R7e415ff064374c95" /><Relationship Type="http://schemas.openxmlformats.org/officeDocument/2006/relationships/presProps" Target="/ppt/presProps.xml" Id="R14ea9de81f2f4f05" /><Relationship Type="http://schemas.openxmlformats.org/officeDocument/2006/relationships/tableStyles" Target="/ppt/tableStyles.xml" Id="R0e2dee516731438c" /><Relationship Type="http://schemas.openxmlformats.org/officeDocument/2006/relationships/slide" Target="/ppt/slides/slide1.xml" Id="R1e54469acc424bb0" /><Relationship Type="http://schemas.openxmlformats.org/officeDocument/2006/relationships/slide" Target="/ppt/slides/slide2.xml" Id="R41c84c5f77e34075" /><Relationship Type="http://schemas.openxmlformats.org/officeDocument/2006/relationships/slide" Target="/ppt/slides/slide3.xml" Id="R29eb08830a2045e7" /><Relationship Type="http://schemas.openxmlformats.org/officeDocument/2006/relationships/slide" Target="/ppt/slides/slide4.xml" Id="Rcc375867bc53420c" /><Relationship Type="http://schemas.openxmlformats.org/officeDocument/2006/relationships/slide" Target="/ppt/slides/slide5.xml" Id="Rfe7a5ef3bb4d478b" /><Relationship Type="http://schemas.openxmlformats.org/officeDocument/2006/relationships/slide" Target="/ppt/slides/slide6.xml" Id="Ra86146f00d9b4a2d" /><Relationship Type="http://schemas.openxmlformats.org/officeDocument/2006/relationships/slide" Target="/ppt/slides/slide7.xml" Id="Rf06b6b4c92764599" /><Relationship Type="http://schemas.openxmlformats.org/officeDocument/2006/relationships/slide" Target="/ppt/slides/slide8.xml" Id="R5393e120a45143c7" /><Relationship Type="http://schemas.openxmlformats.org/officeDocument/2006/relationships/slide" Target="/ppt/slides/slide9.xml" Id="Rbc28c129e0634b9b" /><Relationship Type="http://schemas.openxmlformats.org/officeDocument/2006/relationships/slide" Target="/ppt/slides/slide10.xml" Id="R0378b695337446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0d2139b40d44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158a7265db459f" /><Relationship Type="http://schemas.openxmlformats.org/officeDocument/2006/relationships/notesMaster" Target="/ppt/notesMasters/notesMaster1.xml" Id="Ra45bd48047ab48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1f2094aa924be1" /><Relationship Type="http://schemas.openxmlformats.org/officeDocument/2006/relationships/notesMaster" Target="/ppt/notesMasters/notesMaster1.xml" Id="Ra59fa628e98546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228b96369447c8" /><Relationship Type="http://schemas.openxmlformats.org/officeDocument/2006/relationships/notesMaster" Target="/ppt/notesMasters/notesMaster1.xml" Id="R9afe2bf14af84f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cdaa48429c45ea" /><Relationship Type="http://schemas.openxmlformats.org/officeDocument/2006/relationships/notesMaster" Target="/ppt/notesMasters/notesMaster1.xml" Id="R482cd70a357c4d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00225db7d14d11" /><Relationship Type="http://schemas.openxmlformats.org/officeDocument/2006/relationships/notesMaster" Target="/ppt/notesMasters/notesMaster1.xml" Id="R41d5bb0c49a946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3e85319f724c50" /><Relationship Type="http://schemas.openxmlformats.org/officeDocument/2006/relationships/notesMaster" Target="/ppt/notesMasters/notesMaster1.xml" Id="R0c2dc4afecdd4a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ccdaad36824395" /><Relationship Type="http://schemas.openxmlformats.org/officeDocument/2006/relationships/notesMaster" Target="/ppt/notesMasters/notesMaster1.xml" Id="Rd15470f82cb94c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38bca8fe4e47f1" /><Relationship Type="http://schemas.openxmlformats.org/officeDocument/2006/relationships/notesMaster" Target="/ppt/notesMasters/notesMaster1.xml" Id="Rff9d74ad87564a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e848b2013744b6" /><Relationship Type="http://schemas.openxmlformats.org/officeDocument/2006/relationships/notesMaster" Target="/ppt/notesMasters/notesMaster1.xml" Id="R2eefdc7ef70549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177bd5399d4c00" /><Relationship Type="http://schemas.openxmlformats.org/officeDocument/2006/relationships/notesMaster" Target="/ppt/notesMasters/notesMaster1.xml" Id="R5f247111a34846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开场用一句话定义项目：WindOps 不是聊天界面，而是面向风电异常处置的受治理智能体闭环。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C:\coding\project\wind-agent\public\windops-command-center.png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这一页把技术工作转译为业务问题：WindOps 的核心目标是闭环，而不是增加一个告警列表或聊天框。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C:\coding\project\wind-agent\docs\agent-engineer-interview-project-introduction.md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沿着箭头讲清主线：数据触发 Mission，多 Agent 产生证据和方案，人类批准后才进入工单，现场结果再沉淀为知识。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C:\coding\project\wind-agent\docs\agent-engineer-interview-project-introduction.md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强调页面并非孤立展示：Dashboard、Mission、Decision、Work Order、Health 与 Knowledge 读取同一业务故事和服务器状态。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C:\coding\project\wind-agent\docs\design\windops-operations-command-center-concept-v2.png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 UI 中的 Agent 组织与生产工具合同：多 Agent 不是为了增加角色名，而是为了把职责、权限和验收拆开。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C:\coding\project\wind-agent\backend\src\windops_backend\services\seed.py</a:t>
            </a:r>
          </a:p>
          <a:p xmlns:a="http://schemas.openxmlformats.org/drawingml/2006/main">
            <a:r>
              <a:t>- C:\coding\project\wind-agent\backend\src\windops_backend\agents\tools.py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这一页主动说明诚实边界：双运行形态是架构选择，不应把 Demo 结果包装成生产执行。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C:\coding\project\wind-agent\backend\README.md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技术亮点不是模型会说什么，而是模型不能越过什么：状态机、工具合同、权限、幂等和证据门禁共同构成行动边界。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C:\coding\project\wind-agent\docs\agent-engineer-interview-project-introduction.md</a:t>
            </a:r>
          </a:p>
          <a:p xmlns:a="http://schemas.openxmlformats.org/drawingml/2006/main">
            <a:r>
              <a:t>- C:\coding\project\wind-agent\backend\src\windops_backend\agents\graph.py</a:t>
            </a:r>
          </a:p>
          <a:p xmlns:a="http://schemas.openxmlformats.org/drawingml/2006/main">
            <a:r>
              <a:t>- C:\coding\project\wind-agent\backend\src\windops_backend\services\agent_governance.py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 v6 让 Agent 与异常检测不只依赖手写 fixture；同时用真值隔离、失败关闭和版本化制品控制评估可信度。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C:\coding\project\wind-agent\docs\agent-engineer-interview-project-introduction.md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WT-023 是贯穿页面的主故事。重点不是故障结论本身，而是从证据到审批、执行和知识沉淀的完整状态闭环。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C:\coding\project\wind-agent\tests\e2e\__screenshots__\dashboard-p1-incident-390.png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结尾明确项目成熟度和下一步：当前是生产候选而非已上线系统，后续价值取决于真实依赖、现场系统与发布环境的联合验收。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C:\coding\project\wind-agent\docs\demo-gap-audit.md</a:t>
            </a:r>
          </a:p>
          <a:p xmlns:a="http://schemas.openxmlformats.org/drawingml/2006/main">
            <a:r>
              <a:t>- C:\coding\project\wind-agent\public\og.png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a1d2d6a324a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5646ed252a4a86" /><Relationship Type="http://schemas.openxmlformats.org/officeDocument/2006/relationships/slideLayout" Target="/ppt/slideLayouts/slideLayout1.xml" Id="Re473e7cdfaf64c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73e7cdfaf64c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fa44deceb4c0b" /><Relationship Type="http://schemas.openxmlformats.org/officeDocument/2006/relationships/image" Target="/ppt/media/image.png" Id="R585577cfea2c49b4" /><Relationship Type="http://schemas.openxmlformats.org/officeDocument/2006/relationships/notesSlide" Target="/ppt/notesSlides/notesSlide1.xml" Id="Rd17d7a0ff9ca48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b63d578794e74" /><Relationship Type="http://schemas.openxmlformats.org/officeDocument/2006/relationships/notesSlide" Target="/ppt/notesSlides/notesSlide2.xml" Id="R4fb4f78a018442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245b150914512" /><Relationship Type="http://schemas.openxmlformats.org/officeDocument/2006/relationships/notesSlide" Target="/ppt/notesSlides/notesSlide3.xml" Id="R4f1bed597f2940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111320a744ee1" /><Relationship Type="http://schemas.openxmlformats.org/officeDocument/2006/relationships/image" Target="/ppt/media/image2.png" Id="Re0fd68b9115d47d8" /><Relationship Type="http://schemas.openxmlformats.org/officeDocument/2006/relationships/notesSlide" Target="/ppt/notesSlides/notesSlide4.xml" Id="R78c372065a5842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6c37cb2314799" /><Relationship Type="http://schemas.openxmlformats.org/officeDocument/2006/relationships/notesSlide" Target="/ppt/notesSlides/notesSlide5.xml" Id="Rb7a22026749d42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70cd03b0b4368" /><Relationship Type="http://schemas.openxmlformats.org/officeDocument/2006/relationships/notesSlide" Target="/ppt/notesSlides/notesSlide6.xml" Id="Re198f5728b9f49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79d89343e4b46" /><Relationship Type="http://schemas.openxmlformats.org/officeDocument/2006/relationships/notesSlide" Target="/ppt/notesSlides/notesSlide7.xml" Id="R64c05d9dc2e04b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93ccf39f34eae" /><Relationship Type="http://schemas.openxmlformats.org/officeDocument/2006/relationships/notesSlide" Target="/ppt/notesSlides/notesSlide8.xml" Id="R094e6afbf8ec43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d2e2004b94053" /><Relationship Type="http://schemas.openxmlformats.org/officeDocument/2006/relationships/image" Target="/ppt/media/image3.png" Id="Rafeb7de38e8a439b" /><Relationship Type="http://schemas.openxmlformats.org/officeDocument/2006/relationships/notesSlide" Target="/ppt/notesSlides/notesSlide9.xml" Id="R68fe6f1d81064e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ff974372d440f" /><Relationship Type="http://schemas.openxmlformats.org/officeDocument/2006/relationships/image" Target="/ppt/media/image4.png" Id="Re790f93e2a61427f" /><Relationship Type="http://schemas.openxmlformats.org/officeDocument/2006/relationships/notesSlide" Target="/ppt/notesSlides/notesSlide10.xml" Id="R5adfc1550d8c4e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80DE8-EB45-419C-BEB7-B7FD283F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WINDOPS · AI-NATIVE WIND OPERATIONS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BEBE69A-8226-4F8F-B257-508A8FAF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风电运维智能体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1EA83-FD17-48E2-A287-05DF786C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把异常感知、协同诊断、人工审批与工单执行</a:t>
            </a:r>
          </a:p>
          <a:p xmlns:a="http://schemas.openxmlformats.org/drawingml/2006/main">
            <a:pPr algn="l">
              <a:def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连成一条可追踪、可恢复、可审计的业务闭环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6AD25-016B-45CA-ACA5-2F668883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83715-CF82-43BD-A23F-1594532D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项目介绍 · 10 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48779-952D-485F-AAE2-CADDFE8A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多智能体协作  ·  类型化工具  ·  Human-in-the-loop</a:t>
            </a:r>
          </a:p>
        </p:txBody>
      </p:sp>
      <p:sp>
        <p:nvSpPr>
          <p:cNvPr id="7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63FC2045-8C1C-420E-B2C1-968701BD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"/>
            <a:ext cx="5410200" cy="5715000"/>
          </a:xfrm>
          <a:prstGeom xmlns:a="http://schemas.openxmlformats.org/drawingml/2006/main" prst="roundRect">
            <a:avLst>
              <a:gd name="adj" fmla="val 2465"/>
            </a:avLst>
          </a:prstGeom>
          <a:solidFill xmlns:a="http://schemas.openxmlformats.org/drawingml/2006/main">
            <a:srgbClr val="E8EEF0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577cfea2c49b4"/>
          <a:srcRect xmlns:a="http://schemas.openxmlformats.org/drawingml/2006/main" l="20000" t="0" r="4000" b="2000"/>
          <a:stretch xmlns:a="http://schemas.openxmlformats.org/drawingml/2006/main"/>
        </p:blipFill>
        <p:spPr>
          <a:xfrm xmlns:a="http://schemas.openxmlformats.org/drawingml/2006/main">
            <a:off x="6229350" y="361950"/>
            <a:ext cx="5410200" cy="5715000"/>
          </a:xfrm>
          <a:prstGeom xmlns:a="http://schemas.openxmlformats.org/drawingml/2006/main" prst="roundRect">
            <a:avLst>
              <a:gd name="adj" fmla="val 246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22B4E-B537-4AD1-8CB4-7041DCB4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70705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C747E0-A8EF-46CB-AAAB-C15FD34B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01 / 项目背景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15E9559-B441-47EE-8527-BC3E0718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问题不是告警不足，而是处置链路断裂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1DEB6-AC68-4B2F-9290-FCA78FD2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6102C-B98A-45A7-8984-8363C412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38325"/>
            <a:ext cx="371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数据在，告警在，</a:t>
            </a:r>
          </a:p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经验也在。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64141-8884-42E5-9D89-7F446E77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缺的是一条能跨越系统、角色与现场执行的可信闭环。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907DB-8D34-4DE2-8E1E-6B18DC42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04255-EC90-4FE5-B0F6-1941128F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55B02-58AC-41F0-8194-04FCAA61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让每一次异常都有证据、责任、审批和结果。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3D3B7-A25C-43B3-BF20-FD87BCC6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85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22BA2-930C-42AF-AD3C-B33F87F9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049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FB6D3-8796-4162-9E48-24E02FD1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57350"/>
            <a:ext cx="599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数据孤岛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E584A-034A-4943-AF65-E8F508A7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000250"/>
            <a:ext cx="599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SCADA、告警、维护记录与知识文档彼此割裂。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F63E2-B488-42D4-92B5-A12D2B8C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76500"/>
            <a:ext cx="5991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5381A-2E67-4F2C-A6AC-4E55875C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33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6ABFD-9B0F-43DB-B283-5FA67DDC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527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D5686-77F7-413F-B497-FE94D9B9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05100"/>
            <a:ext cx="599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决策断点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606AE-6186-44F9-BE65-6998D143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048000"/>
            <a:ext cx="599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从异常到诊断、方案、审批和工单缺少统一状态。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51F95-BAB7-47B6-8FE0-01322299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24250"/>
            <a:ext cx="5991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02B1E-06D8-492B-A6E2-411D0071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814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20B60-F94B-42EE-9EB9-AF308A03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004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390FE-4022-46D6-9FD6-BD7A0E73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752850"/>
            <a:ext cx="599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Agent 难以约束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436A3A-7D0C-4823-B8B0-07112413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95750"/>
            <a:ext cx="599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模型能给建议，但来源、权限与行动边界往往不透明。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70B0A-E380-4D6B-9C1D-C1509457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572000"/>
            <a:ext cx="5991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1B4559-52C2-46DC-8E56-8B06D021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291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DB55F6-3616-4750-9B66-F8A4ADB0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482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0ACB08-B35F-4AF4-9572-818AD797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800600"/>
            <a:ext cx="599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执行难以追溯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4B09A5-A995-4E0A-BAF2-F4E71938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43500"/>
            <a:ext cx="599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重试和并发可能造成重复工单，现场证据难以核验。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C8C278-BA3D-4011-A426-DCE82DDC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8905BE-5241-4436-8132-A2C3DDF0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584716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6DD830-5D5E-4E93-B751-1C0474D5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02 / 解决方案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FC793CE5-DCE5-447C-80B8-5CDD1E30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WindOps 把一次异常处置变成受治理的 Agent 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A47E1-81AA-4A5C-9A83-A7F2CECA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AD052-9468-4E74-96F0-F6335002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每个阶段都产生结构化状态，并为下一步提供可验证输入。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D76BD-2B54-44A2-A8B4-A608EB3B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8251A-BF66-4C37-8CFC-9D37D5F9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8D31B-0653-4496-A96E-C488583C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6FEF8-403C-4C6C-BC26-340D1BE1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20A0D-36BD-487B-A33D-6435F402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44736-7B78-4C78-995C-D3646931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123B5-9E3B-4C61-8EBB-A7D05D36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F8127-B303-401B-A4A4-4270C48A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7FF25-501A-4676-851E-D7DB02AF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7E029-18BD-4422-8A27-AF840F4E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ACEA9-FA24-40D9-A557-9A4CD07B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SCADA / CMS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D46E8-29BE-4726-A421-8735BF97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61010-E103-4319-BDB7-D4BD3330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07403-2AAB-4BD9-916F-34D82F2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F602A-C7A2-4B28-8A6D-EB651EF1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Alarm + 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59E27-CA5C-4192-9E65-A528F761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864C3-BB5C-4AF7-B737-35D44FC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AA1DA6-9381-4560-8123-5457F0C8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73463F-6758-48B5-B590-A6394FDE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专业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DB7B0D-661B-46BB-BD6F-1564BB2B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CDFF72-BB2D-4287-89B4-C5B69BBA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E77B02-90AD-4CC6-9B02-E550CD34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取证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89496-11F1-42FC-8922-B50A4DF2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181C80-6BDB-4B66-A3DB-44F3CBDC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08CF3D-94D4-4D2B-B9F7-34D0FADE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8B3155-12AC-440E-996A-E92359A5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E55A03-FDE6-415A-8245-B9580E0D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候选方案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226D60-9422-432C-87D5-4C3B4804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169B97-120A-4357-885B-27D1E96D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7F6AD6-5BB8-4B5D-9F31-D282427D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把关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B16631-AE17-45DA-B489-B7804EEF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评审 + 审批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C5C66A-1714-43AE-92CB-4A6A29F7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D66C53-298F-467D-B325-13CA8628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5C8C89-68E5-439C-84C3-EBF9BD44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D37914-0AB0-44FB-8D59-1B281403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Work Order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C62D41-3C16-459E-9597-8A611BF9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1AA7A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FB56BA-476B-43D8-8D88-44EDD19A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22AEC0-6B92-445B-BD05-2394B334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沉淀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6176D6-5F8B-4629-955A-1138F1D7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62D4CE-3689-401A-AD8D-A5DEA1E1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126D3D-BB88-4029-8B16-3D6F27B1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类型化工具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12605A-F390-4B4F-A82F-969E968F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事实来自受限查询与确定性计算，写入动作只暴露领域命令。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B0F0A4-F995-4A56-B3E0-82849B05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2100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FE3584-B2FC-435B-9B7B-E22557C6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419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人工硬门禁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10A888-FB05-4681-9031-6C87BC67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8768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方案必须经过多角色评审；高风险动作只有审批后才能执行。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8E8362-3641-49A3-9BCC-2161169D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9380D8-9AAA-4197-BE4E-B4BDC6B7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19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全链路审计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671F20-6BCD-4370-BCA0-8138E717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工具输入输出、证据、决策、版本、耗时和错误都可追踪。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BF35BD-58EE-4E33-BAE0-1D2088DF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17FD12-2F70-489D-A842-4EDF372D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09098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1B590-F6A4-4894-9498-CF14632C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03 / 产品体验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BDDBE9AE-9EF4-44BA-9F36-19CD2CE2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一个运营工作台覆盖从风场态势到现场闭环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2AC2A-E3F8-49A4-9BA2-62A4B347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4C7E8-0FCA-4158-AC56-16ED7AC9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首页同时回答：整个风场正在发生什么？AI 正在处理什么？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86672-FB8E-4D35-96AF-C64B4DB0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7905750" cy="4076700"/>
          </a:xfrm>
          <a:prstGeom xmlns:a="http://schemas.openxmlformats.org/drawingml/2006/main" prst="roundRect">
            <a:avLst>
              <a:gd name="adj" fmla="val 2336"/>
            </a:avLst>
          </a:prstGeom>
          <a:solidFill xmlns:a="http://schemas.openxmlformats.org/drawingml/2006/main">
            <a:srgbClr val="E8EEF0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d68b9115d47d8"/>
          <a:srcRect xmlns:a="http://schemas.openxmlformats.org/drawingml/2006/main" l="0" t="2000" r="0" b="2000"/>
          <a:stretch xmlns:a="http://schemas.openxmlformats.org/drawingml/2006/main"/>
        </p:blipFill>
        <p:spPr>
          <a:xfrm xmlns:a="http://schemas.openxmlformats.org/drawingml/2006/main">
            <a:off x="552450" y="2019300"/>
            <a:ext cx="7905750" cy="4076700"/>
          </a:xfrm>
          <a:prstGeom xmlns:a="http://schemas.openxmlformats.org/drawingml/2006/main" prst="roundRect">
            <a:avLst>
              <a:gd name="adj" fmla="val 233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F9435-DB37-49B2-8C31-9D42CE62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19300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C0C44-A895-4955-91FD-EB954280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57425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4916A-25B8-44BF-B5D3-AEFDF1E5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194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核心闭环页面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14AB1-0077-4E47-82D8-07C9F221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运营中心、风场、风机、SCADA、告警、Agent、Mission、决策与工单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EBF3F-0D2E-4D64-8EC4-AFAA0B28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10025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7C411-3167-4C32-BFE2-A627CD45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481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55F40-50B2-4F68-91B5-5F7C5342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101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专业 / 平台工作区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1989A-8239-4EDA-AA56-23BBAEE4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19725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健康、预测维护、资源、知识、报告、数字孪生、数据、模型与设置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5B191-9730-4586-92CC-23DA23E4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435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统一主故事：WT-023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89FB1-B063-45C6-BACF-C4AF34D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8C8E6-D527-4FD3-97C4-DD72A3B1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31074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34F262-B121-432B-85A8-582DA73A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04 / AGENT 设计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E9C0BA08-87D7-4AF8-A36B-A3A8B526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多智能体的价值是职责隔离，而不是角色堆叠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48D65-D480-441F-88F6-41060858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9E061-B4CD-4796-B770-B3E000FE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演示工作区组织 22 个 Agent；生产候选以 11 个类型化业务工具约束真实行动。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AF646-CEDD-4421-8816-47C72D9C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AA7A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AA7A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E0999-7DB7-410E-A5AB-C9FFD6D9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Decision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FC2E3-61AE-47A4-A84C-F6DF0CA2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读取数据、形成证据、提出受约束方案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7788D-621A-4D52-87D3-DFB12BE6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69FB4-24C2-4FC0-B520-0FD6301D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890ED-A144-41B7-88E8-D3A3B218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SCADA / 振动 / 历史案例分析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6C54C-1C7A-46D3-8B73-D5CC03C9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296ED-56C6-4AFD-BA6E-3DEF8539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健康度与 RUL 确定性计算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7283A-31C4-452E-BC6E-3D24595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67921-803E-40D6-8CEA-951100B8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生成 3 个候选维护方案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7FA2C-AADB-4C29-B77A-830D5752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25A74-EE26-457D-8A27-E8F3F744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输出 Evidence 与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68B90-81C3-4114-A3E1-8ABC1D94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002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D48A1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D48A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DE5E1-1664-430F-9FA8-0412A493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Review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0F516-8ADA-4636-8FE3-51E3A3F6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098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工程、安全、资源与经济性独立评审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D7D220-0D7C-4955-9E78-12C3E5A4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28975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D959B-A227-4138-9735-177F789A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3B79B4-722E-4999-89E8-97D666CE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290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不同角色拥有不同权限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7E0BCD-DB1C-4704-AD2B-66DDA914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FD61D4-A7DB-43FE-9BE5-39651DE0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814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每个结论必须引用公开证据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59E6FE-AA49-4D97-B9D9-C7844E20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167235-0C64-40DE-953A-EE0B5E83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339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不确定信息明确失败或升级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28E698-D679-492A-A877-1FF750D6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1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8A0E0C-EE6F-4D28-BA13-96F6C4C1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0863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人工批准 / 拒绝 / 退修 / 升级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790E5C-EE43-46C8-92CF-FB85E5BE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002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D94C5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D94C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CF1E2B-3AC4-4531-929C-9C8DD08A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Execution Layer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EEFA21-D13D-4960-858E-6CBE32A5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审批后执行，并以现场证据完成闭环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E43F1C-17A0-466E-AF35-91E56807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3CB93A-E08B-45A7-AD68-8EA0B9B8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34CAEC-2894-458D-90C8-B0CAE1E9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原子预留班组、船舶与备件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6F74D3-DB15-48EA-AC9F-35A981AA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12EB1E-609C-4198-ADCC-9C22AB54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按治理顺序完成现场任务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4C1D33-59BE-4148-A4A8-C62B9DD1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C99E94-1245-427E-B15F-FE8EDB3B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339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URI + SHA-256 + measurement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8712A6-80D4-467C-B768-37836A20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1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C7CDA8-593B-4CD0-890D-6353B94A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863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回写健康度并生成知识案例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DA99AC-58A1-4CF6-BC6D-ECF8DDD9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15D40D-5EA1-4DB1-AD10-E4CE496F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工程价值 = 独立权限 + 独立验收标准 + 可追踪交接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3D5F92-5D37-4B2B-AA04-AEA3B580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E96F0A-8114-4A2D-9848-E1C1A702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27200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75A5C0-21D1-4740-857E-593A9870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05 / 系统架构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02C1699D-892C-4F8E-8BE8-838B430D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双运行架构兼顾稳定演示与生产候选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01921-2BB8-48CB-8E5D-6B1600EA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B235A-73C9-4FBD-9397-C16F3E91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共享前端领域契约，但数据来源、身份边界与执行可信度严格隔离。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3270C-EFBC-4E48-8B7D-8E53538C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051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124D0-2E95-41F1-9B0E-E42CA751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290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8F05B-8A1B-41A3-9A97-B2B3D69A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529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6AF2A-BBF1-45AD-B6EC-DEA726CE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051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23040-47F0-44EC-8D00-6DD08FA6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290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703F4-0FEE-4B8C-B2AB-1DBE1E6C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529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957AF-522E-4563-A0D6-A81DB38D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14525"/>
            <a:ext cx="5334000" cy="3286125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1AA7A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3878F-D7A0-410F-969A-B487102E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14525"/>
            <a:ext cx="5334000" cy="3286125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15422-C555-432B-BBD4-DD846C71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DEMO · 可重复演示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32143-8C97-4F02-9409-1EDBB255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PRODUCTION CANDIDATE · 受治理执行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B2376-B96F-4422-AD53-C7DDA8FA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42E4A-7355-4940-8BCC-DF29085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React 19 运营工作区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A604D-1926-4975-B278-D1B995D3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2B608-AA62-4E76-BB90-18CA15AB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Sites Worker API + D1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61254-360B-4407-AFAC-9AF4ADDA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DE13AC-C763-4308-9ACF-A7073233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17-tool 确定性运行时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596570-EEAF-40F0-886F-3EB2B377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C9BB5B-9B48-4B93-A80D-8F7C7901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用途：稳定演示、截图与回归测试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74DB9-545C-4486-BF82-E153F273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241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37CC24-194E-43EF-9113-4860A4CE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098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Sites 身份网关 + 路由白名单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42661E-DA23-439B-BA1C-EB58A9C8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480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214C1C-54F1-4FDD-B700-FCC84580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337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FastAPI + LangGraph + LiteLLM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CB40D5-6562-4B19-9C3E-06C0B1AB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71925"/>
            <a:ext cx="2266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CD8BB1-0F18-41E9-9A20-18A8BF48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576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PostgreSQL / TimescaleDB / pgvector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0255CF-94D7-4F09-9A73-901F11AC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71925"/>
            <a:ext cx="2266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002CAC-049E-48A5-B41A-031C0347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Redis / MinIO / Neo4j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A838CE-1385-4692-93A4-C7F7FD0A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58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39C0B9-0970-487C-BC32-25BDAB15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815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用途：真实依赖下的可靠、可审计执行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37A0F7-604D-4124-8BAA-CDEB2A11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FF1D5"/>
          </a:solidFill>
          <a:ln xmlns:a="http://schemas.openxmlformats.org/drawingml/2006/main" w="9525">
            <a:solidFill>
              <a:srgbClr val="D48A1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B9D357-8E3C-4CF9-BD7C-BB7229FB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483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rPr>
              <a:t>运行边界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CFBE0A-2244-44BD-9EF3-F13F60D6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19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Demo 结果不等于生产 Agent 调用；生产候选仍需真实身份、模型供应商、现场系统与发布环境联合验收。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1F5EC2-08CD-42CC-B55F-1755DD52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030C08-EF10-4AC3-8769-715E3518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09741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F0BB54-D5A9-477F-BB2C-AC087731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06 / 工程治理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CC0C7D53-00A8-4AD4-9A14-0D4AC310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关键动作由四道工程门禁共同约束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098A9-7012-4265-B12E-8CBB6392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80375-492A-4D80-8A46-EF538369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Prompt 负责推理引导；真正的权限、状态与提交由服务端控制。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6BF77-F805-44BB-8F56-0D24904D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A7A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AA7A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A55C3-A860-46B6-A2A9-08724041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81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状态机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9802E-C4D3-4D2D-A171-F5E8D4FA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8120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Mission、Decision、Approval、Work Order 的转换由服务端校验，模型文本不能伪造“已批准”。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54330-DD5B-4D4E-B037-00F2FE12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7177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0373A-25F3-4C03-AD27-4D290B46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48A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48A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A1352-60AC-4396-AD64-2BA389D7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622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工具与权限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CDF7D-CC11-40C8-9557-51FA137D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6227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Pydantic / JSON Schema、租户与资产范围、最小权限工具；不提供任意 SQL、Shell 或万能写接口。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C4A4C-EC1A-41A1-B9BD-069BA469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528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A3B13-F59A-4CD5-AE60-8E00A16B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4C5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4C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151C0-440E-48F2-9F2C-0E3670F2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可靠执行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4B987-A44A-484F-AF01-850D69B0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4335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Idempotency-Key、revision / CAS、transactional outbox、可恢复租约与 fencing token 共同处理重试和并发。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0AABC-2582-46DB-9409-E206498F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339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6DC04-352F-4C0E-A7B4-D457FE84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625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8B6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D8B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5EDEB-EE2F-422A-B434-FC0D968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证据与人工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0996C-8F6D-4E5E-9D98-329FF312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2442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Evidence → Decision → 多角色评审 → HITL；现场任务必须提交 URI、SHA-256 与结构化 measurement。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4D7E20-E5E5-4277-B9E1-5EF51634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15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2937FF-1661-42F4-9D6C-1FE8F638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971675"/>
            <a:ext cx="2371725" cy="39052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8506B-EE34-4C68-8731-B1696C9C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38375"/>
            <a:ext cx="1876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审计可见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384CE0-921F-48EA-8D37-FDF92FB0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813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C113C-8369-4174-B9C6-5546B7B1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09E8A-D0B1-4E90-ADC6-ABF09F39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工具输入 / 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016DCE-47A7-4444-8BF9-579CF351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81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F6CBC4-EFEF-41F3-9603-3BF87845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67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证据与来源引用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4F2996-60BB-4090-9A12-C02A8092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4FA5C6-05FF-402E-9523-FF5CD50C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05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模型与版本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C2EDF3-110B-4B6C-904D-FA558116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57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72BE99-544E-417A-9B07-CB02BE81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43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延迟、token 与错误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A44296-9CCF-4FCC-AF9C-9F6F2808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95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A05DF2-FB98-461A-B744-0D70B3B1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81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审批与现场凭证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CFBBED-3662-4E58-BEBF-C6A7A8A7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267325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rPr>
              <a:t>不保存或伪造</a:t>
            </a:r>
          </a:p>
          <a:p xmlns:a="http://schemas.openxmlformats.org/drawingml/2006/main">
            <a:pPr algn="l">
              <a:defRPr sz="1200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rPr>
              <a:t>隐藏 Chain-of-Thought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7FF4CF-68AD-4B30-A71C-DB5C34B5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6838F6-5DE4-4037-8D6F-F48C1B8C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025477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019C1E-DB07-43D3-9231-C703CC75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07 / 数据与评估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5089D35A-817A-4A3F-A724-5EDB8BEA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真实数据评估把模型效果纳入可发布的工程门禁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F1FF5-C7D7-44E2-8F85-0E36F71B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285F8-F284-4EA2-B9B5-8F26F7A6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CARE v6 路径覆盖数据合同、质量、真值隔离、离线评估与有界在线回放。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7EB78-3254-4965-8132-A67884D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A33C0-85EC-47C2-98E1-81784E43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5,242,948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79429-B9F5-4DC2-BD94-5C6C6765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数据行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8EA2D-6846-42A5-A6C6-84B577C5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85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101 个 CSV，95 个事件；原始数据只读，不进入仓库。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D0987-2F5E-410A-ADDF-AF68D78B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288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AD27A-9DD3-4342-9E92-382754BB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7E215-AF83-496B-B21D-6D3FB3F8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场内留一资产 fold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7CE41-9B54-44AC-A1B4-0DF19043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385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覆盖 95 个事件，失败与不可评分事件同样纳入汇总。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2AA09-6F87-4D60-AA2B-0F700A47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288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9B378-A09F-4B1F-863B-28C7B88D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281,249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26077-CD8F-4AD4-8F6A-07756C4E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预测点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CEAC0-1550-4FE2-B0EF-0C78C241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385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预测先冻结，最终 evaluator 才能读取真值。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8086C-5C65-4FC8-A353-5F5EE8EA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候选门禁结果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4CDEE1-7B6D-471D-B5E1-EB6C043C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8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D8B69"/>
                </a:solidFill>
                <a:latin typeface="Microsoft YaHei"/>
                <a:ea typeface="Microsoft YaHei"/>
                <a:cs typeface="Microsoft YaHei"/>
              </a:rPr>
              <a:t>12 通过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FD31C-A52D-45A6-B9BA-33C8468B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33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4C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D94C57"/>
                </a:solidFill>
                <a:latin typeface="Microsoft YaHei"/>
                <a:ea typeface="Microsoft YaHei"/>
                <a:cs typeface="Microsoft YaHei"/>
              </a:rPr>
              <a:t>24 未通过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D8A1B-6BAD-4420-B513-21879A55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408C9-54CF-4669-9FF2-E384151E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387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B836CE-85E4-4D22-8126-E8B5D1DA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失败候选完整登记，不用删除样本换取更好指标。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64195-CDB8-4B5C-9993-EF0CDF5F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2863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3C7996-F72A-41C7-AC4F-84770D69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863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FECB42-DB6B-4A14-B839-F70E10B9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2863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1468DB-9699-4307-B02D-E16CDDFF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863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425FF0-1D6E-41E4-A850-9C9C7511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CBFA25-CEB9-44F0-A0BA-29A073CA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只读源数据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44F68F-6EA2-4DAC-84AD-18BDDC65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授权位置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6786C7-02D5-4A05-A254-012ABE2A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658CC4-2383-4A60-94C2-90E8F1D4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合同与质量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8F3338-D5D5-4CE1-8DE5-4CCBE0AF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unknown / missing 失败关闭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37654D-5DCB-4E3E-8565-FBB9EF54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521D75-F3D7-41A5-995C-600C5E29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宽表 Parquet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617006-9A21-4AE2-BD0B-567C6B7F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分块、列裁剪、有界内存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4A9C6D-CC67-41D8-A079-92BDA5AF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9713DD-5A95-4716-BA7D-7406B84D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LOAO 评估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FCBA25-210E-46DE-8859-8FB77201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场内泛化，不宣称跨场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7BCB44-CAFA-4765-904B-27270AB7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1AA7A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1751EF-EBE6-496E-9046-0D083D8F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有界回放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3BE447-EF19-4CAC-891A-6D831989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prediction → Alarm → Mission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D8FCC7-8B53-468C-8B76-EC540049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10275"/>
            <a:ext cx="687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数据口径：仓库记录的 2026-08-27/29 本地候选与只读复核证据，不等同于生产上线。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21A6B0-9105-4BEC-B7DA-96DC51E0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BC39ED-FFF1-4263-AA74-F2D4400B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248726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57D010-EBAF-4A31-8FFF-2A6A5EB6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08 / 业务案例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BB3828C0-AF53-4F68-B3BC-3C2E3FE0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WT-023 展示从异常到闭环的完整业务价值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D458C-A5F5-456D-BF94-FB1E1FE4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E7444-9DDB-4413-81F5-BBFDB660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主轴承振动、温度与多变量异常共同触发 P1 事件。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D5E1E-90F8-4744-BBFA-D18E80ED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71475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b7de38e8a439b"/>
          <a:stretch xmlns:a="http://schemas.openxmlformats.org/drawingml/2006/main"/>
        </p:blipFill>
        <p:spPr>
          <a:xfrm xmlns:a="http://schemas.openxmlformats.org/drawingml/2006/main">
            <a:off x="723900" y="2143125"/>
            <a:ext cx="3371850" cy="1276350"/>
          </a:xfrm>
          <a:prstGeom xmlns:a="http://schemas.openxmlformats.org/drawingml/2006/main" prst="roundRect">
            <a:avLst>
              <a:gd name="adj" fmla="val 52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D6860-B1E8-4E5E-B2AA-AA0773A8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振动 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E987C-B1EF-4029-97F8-9F800061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290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4C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4C57"/>
                </a:solidFill>
                <a:latin typeface="Arial"/>
                <a:ea typeface="Arial"/>
                <a:cs typeface="Arial"/>
              </a:rPr>
              <a:t>4.81 mm/s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57224-51AD-40EB-A2EB-AEC4BBF8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671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阈值 4.5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3B578-C387-4022-8B1F-515155A8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454D5-FCCD-49B3-810C-BD94E185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主轴承温度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C6306-B90B-4B74-84A1-D631A740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5770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48A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48A12"/>
                </a:solidFill>
                <a:latin typeface="Arial"/>
                <a:ea typeface="Arial"/>
                <a:cs typeface="Arial"/>
              </a:rPr>
              <a:t>76.4°C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F2E17-91D6-4B6F-BF2C-8B87FEF6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958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阈值 75°C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DDD20-8223-4F6E-B7EE-4748F2F7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4822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C4979-FF25-4DB6-A511-1F14FAC2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异常分数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287C4-B8C0-49BB-94D8-5D60D18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863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A7A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A7A1"/>
                </a:solidFill>
                <a:latin typeface="Arial"/>
                <a:ea typeface="Arial"/>
                <a:cs typeface="Arial"/>
              </a:rPr>
              <a:t>0.86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4D636-91D8-41A3-80BF-86FB1C4E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244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阈值 0.65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597D6-8B3F-46A8-8E71-146BA9FB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4370B-6A35-494B-99F0-51AE9010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105025"/>
            <a:ext cx="2857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66FD9-30DE-4081-A63B-B9AE7FF4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95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1C93C8-F390-44A3-9E09-9526AB8E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431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9E6B58-EACB-4051-8870-BA1A96C0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24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异常触发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68350-0B3F-4C8B-89E1-B0051BC4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95525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SCADA 样本、Alarm、Mission 与 outbox event 在同一事务提交。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86D7CF-0AFE-4E0F-9AEA-B4A28ED2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24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3A4965-E014-41FC-BD9F-776F60F3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718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082CD-B190-4A2C-9D72-13E51D3E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52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协同诊断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1EFC88-FC2F-440F-893D-1E2001D3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24225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Agent 查询时序、振动、历史维护与相似案例，形成结构化 Evidence。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1F9101-9DC8-43A7-86E3-CE100C75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52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911832-DC2F-4B60-A01E-C0689ADE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005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15647F-1046-4DCE-9F93-9BF922F0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81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方案与审批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30A3A8-25AB-4FAA-B9D0-2AA4F30F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52925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生成 A / B / C 三个方案，多角色评审后由人工批准或退修。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3D5962-E6C1-46A3-AA70-67375497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81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D82CAC-CBA7-4401-A5E4-1DE8241C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292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EFED6D-91DA-4644-9300-88773461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10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现场闭环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13D0F7-F65C-471F-8592-75389FD3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81625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5 项任务逐项提交证据；健康度回写至 82，并生成知识案例。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E85703-2F69-4F5B-B342-B3BF1B73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924550"/>
            <a:ext cx="6629400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D5B79D-C8FC-437B-B5AC-F6710FE1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000750"/>
            <a:ext cx="624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展示的不是一次 LLM 回复，而是一条完整、可审计的业务状态变化。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5D48B9-0D17-448C-B290-72943F2F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47476A-9EDD-4723-BAD7-9C6DA65A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50193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0f93e2a61427f"/>
          <a:srcRect xmlns:a="http://schemas.openxmlformats.org/drawingml/2006/main" l="28000" t="3000" r="2000" b="3000"/>
          <a:stretch xmlns:a="http://schemas.openxmlformats.org/drawingml/2006/main"/>
        </p:blipFill>
        <p:spPr>
          <a:xfrm xmlns:a="http://schemas.openxmlformats.org/drawingml/2006/main">
            <a:off x="6305550" y="0"/>
            <a:ext cx="58864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B4661-13C0-4C73-8F77-0F9A69D6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09 / 总结与下一步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956A48B2-05AE-411F-8B9B-F00901C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从“可演示”</a:t>
            </a:r>
          </a:p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走向“可验收”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A3914-C67D-4B51-9330-A3961066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当前已具备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57B70-1C57-4391-8452-F82FE86C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513C9-A6CF-415E-BB5A-97681C20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8132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端到端异常处置闭环与统一业务状态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93500-C08D-4096-BFDF-0D6EFCFA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FC435-6E1A-436C-9EB8-94EED735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099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受约束多 Agent、类型化工具与人工门禁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044DD-57B5-4A50-BF2C-5575B806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A288B-2E04-4435-93EA-27F14E54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385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Demo / Production Candidate 双运行边界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6660C-3535-4410-BCE4-BA86790C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91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8C9A1-217E-42A8-BB2F-FC34C29B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6720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CARE v6 数据评估与工程质量门禁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107C7-3B75-4624-ACD0-9EB83429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32431-3DAB-4E65-859C-91DA3AB8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577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4252D-792D-4A9B-8748-E0D342E8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57825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真实身份与模型供应商联调 · 现场 SCADA/CMS/EAM 接入 · 签名制品与集群准入 · 风场试点指标与 SOP 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95368-2913-410B-BFA9-87A4D044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让 Agent 在工业现场可用、可控、可追责。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EC5923-F1D2-4F1E-B8F0-AF91CD99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8541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2026-08-31T01:51:09.0770000Z</dcterms:created>
  <dcterms:modified xsi:type="dcterms:W3CDTF">2026-08-31T01:51:09.0780000Z</dcterms:modified>
</coreProperties>
</file>