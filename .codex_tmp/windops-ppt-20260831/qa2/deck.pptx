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7a7eb33def4f2a" /><Relationship Type="http://schemas.openxmlformats.org/officeDocument/2006/relationships/extended-properties" Target="/docProps/app.xml" Id="R34322358a91249f4" /><Relationship Type="http://schemas.openxmlformats.org/officeDocument/2006/relationships/officeDocument" Target="/ppt/presentation.xml" Id="Rcfee3d538faa40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41870809804a5f"/>
  </p:sldMasterIdLst>
  <p:notesMasterIdLst>
    <p:notesMasterId xmlns:r="http://schemas.openxmlformats.org/officeDocument/2006/relationships" r:id="R875eb2b43eb343ef"/>
  </p:notesMasterIdLst>
  <p:sldIdLst>
    <p:sldId xmlns:r="http://schemas.openxmlformats.org/officeDocument/2006/relationships" id="256" r:id="R4be8dad6953847f5"/>
    <p:sldId xmlns:r="http://schemas.openxmlformats.org/officeDocument/2006/relationships" id="257" r:id="R6e5349fcf69d43fe"/>
    <p:sldId xmlns:r="http://schemas.openxmlformats.org/officeDocument/2006/relationships" id="258" r:id="Rfdce26d052d240c2"/>
    <p:sldId xmlns:r="http://schemas.openxmlformats.org/officeDocument/2006/relationships" id="259" r:id="R6d4a17a8cc144bda"/>
    <p:sldId xmlns:r="http://schemas.openxmlformats.org/officeDocument/2006/relationships" id="260" r:id="R97761559ffe44955"/>
    <p:sldId xmlns:r="http://schemas.openxmlformats.org/officeDocument/2006/relationships" id="261" r:id="Reb7e83cb2cac480c"/>
    <p:sldId xmlns:r="http://schemas.openxmlformats.org/officeDocument/2006/relationships" id="262" r:id="R92f76d648bdb404a"/>
    <p:sldId xmlns:r="http://schemas.openxmlformats.org/officeDocument/2006/relationships" id="263" r:id="Rd7a6dac5e2da45b2"/>
    <p:sldId xmlns:r="http://schemas.openxmlformats.org/officeDocument/2006/relationships" id="264" r:id="Ra4ed2eb95dbb4314"/>
    <p:sldId xmlns:r="http://schemas.openxmlformats.org/officeDocument/2006/relationships" id="265" r:id="R9dfdd93b81e34d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61b108d11144ca" /><Relationship Type="http://schemas.openxmlformats.org/officeDocument/2006/relationships/slideMaster" Target="/ppt/slideMasters/slideMaster1.xml" Id="Rdb41870809804a5f" /><Relationship Type="http://schemas.openxmlformats.org/officeDocument/2006/relationships/notesMaster" Target="/ppt/notesMasters/notesMaster1.xml" Id="R875eb2b43eb343ef" /><Relationship Type="http://schemas.openxmlformats.org/officeDocument/2006/relationships/presProps" Target="/ppt/presProps.xml" Id="Rdf66d6fff21e4577" /><Relationship Type="http://schemas.openxmlformats.org/officeDocument/2006/relationships/tableStyles" Target="/ppt/tableStyles.xml" Id="R6299e36c142b4ab6" /><Relationship Type="http://schemas.openxmlformats.org/officeDocument/2006/relationships/slide" Target="/ppt/slides/slide1.xml" Id="R4be8dad6953847f5" /><Relationship Type="http://schemas.openxmlformats.org/officeDocument/2006/relationships/slide" Target="/ppt/slides/slide2.xml" Id="R6e5349fcf69d43fe" /><Relationship Type="http://schemas.openxmlformats.org/officeDocument/2006/relationships/slide" Target="/ppt/slides/slide3.xml" Id="Rfdce26d052d240c2" /><Relationship Type="http://schemas.openxmlformats.org/officeDocument/2006/relationships/slide" Target="/ppt/slides/slide4.xml" Id="R6d4a17a8cc144bda" /><Relationship Type="http://schemas.openxmlformats.org/officeDocument/2006/relationships/slide" Target="/ppt/slides/slide5.xml" Id="R97761559ffe44955" /><Relationship Type="http://schemas.openxmlformats.org/officeDocument/2006/relationships/slide" Target="/ppt/slides/slide6.xml" Id="Reb7e83cb2cac480c" /><Relationship Type="http://schemas.openxmlformats.org/officeDocument/2006/relationships/slide" Target="/ppt/slides/slide7.xml" Id="R92f76d648bdb404a" /><Relationship Type="http://schemas.openxmlformats.org/officeDocument/2006/relationships/slide" Target="/ppt/slides/slide8.xml" Id="Rd7a6dac5e2da45b2" /><Relationship Type="http://schemas.openxmlformats.org/officeDocument/2006/relationships/slide" Target="/ppt/slides/slide9.xml" Id="Ra4ed2eb95dbb4314" /><Relationship Type="http://schemas.openxmlformats.org/officeDocument/2006/relationships/slide" Target="/ppt/slides/slide10.xml" Id="R9dfdd93b81e34d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e7045d91b34e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8f4abdc3e04e64" /><Relationship Type="http://schemas.openxmlformats.org/officeDocument/2006/relationships/notesMaster" Target="/ppt/notesMasters/notesMaster1.xml" Id="Rcf7717d2100d40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317114106347e8" /><Relationship Type="http://schemas.openxmlformats.org/officeDocument/2006/relationships/notesMaster" Target="/ppt/notesMasters/notesMaster1.xml" Id="Rb3d09353858549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a3afc219a248cc" /><Relationship Type="http://schemas.openxmlformats.org/officeDocument/2006/relationships/notesMaster" Target="/ppt/notesMasters/notesMaster1.xml" Id="R1ce92f4e65b14b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e7c98f32234d47" /><Relationship Type="http://schemas.openxmlformats.org/officeDocument/2006/relationships/notesMaster" Target="/ppt/notesMasters/notesMaster1.xml" Id="R76cc4b56314342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d85ed7780843fa" /><Relationship Type="http://schemas.openxmlformats.org/officeDocument/2006/relationships/notesMaster" Target="/ppt/notesMasters/notesMaster1.xml" Id="Rda5380d2eccc46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aa5b5692c74127" /><Relationship Type="http://schemas.openxmlformats.org/officeDocument/2006/relationships/notesMaster" Target="/ppt/notesMasters/notesMaster1.xml" Id="Rd66548ece1994a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2b33b013054093" /><Relationship Type="http://schemas.openxmlformats.org/officeDocument/2006/relationships/notesMaster" Target="/ppt/notesMasters/notesMaster1.xml" Id="R8eb5f9c7a10e46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3d8d9576d14ace" /><Relationship Type="http://schemas.openxmlformats.org/officeDocument/2006/relationships/notesMaster" Target="/ppt/notesMasters/notesMaster1.xml" Id="R083719cece6444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07822bbf0146f9" /><Relationship Type="http://schemas.openxmlformats.org/officeDocument/2006/relationships/notesMaster" Target="/ppt/notesMasters/notesMaster1.xml" Id="R581fb35c96f146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a2e00321394d8d" /><Relationship Type="http://schemas.openxmlformats.org/officeDocument/2006/relationships/notesMaster" Target="/ppt/notesMasters/notesMaster1.xml" Id="R9165e48085724d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开场用一句话定义项目：WindOps 不是聊天界面，而是面向风电异常处置的受治理智能体闭环。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C:\coding\project\wind-agent\README.md</a:t>
            </a:r>
          </a:p>
          <a:p xmlns:a="http://schemas.openxmlformats.org/drawingml/2006/main">
            <a:r>
              <a:t>- C:\coding\project\wind-agent\public\windops-command-center.png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这一页把技术工作转译为业务问题：WindOps 的核心目标是闭环，而不是增加一个告警列表或聊天框。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C:\coding\project\wind-agent\docs\agent-engineer-interview-project-introduction.md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沿着箭头讲清主线：数据触发 Mission，多 Agent 产生证据和方案，人类批准后才进入工单，现场结果再沉淀为知识。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C:\coding\project\wind-agent\README.md</a:t>
            </a:r>
          </a:p>
          <a:p xmlns:a="http://schemas.openxmlformats.org/drawingml/2006/main">
            <a:r>
              <a:t>- C:\coding\project\wind-agent\docs\agent-engineer-interview-project-introduction.md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强调页面并非孤立展示：Dashboard、Mission、Decision、Work Order、Health 与 Knowledge 读取同一业务故事和服务器状态。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C:\coding\project\wind-agent\README.md</a:t>
            </a:r>
          </a:p>
          <a:p xmlns:a="http://schemas.openxmlformats.org/drawingml/2006/main">
            <a:r>
              <a:t>- C:\coding\project\wind-agent\docs\design\windops-operations-command-center-concept-v2.png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区分 UI 中的 Agent 组织与生产工具合同：多 Agent 不是为了增加角色名，而是为了把职责、权限和验收拆开。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C:\coding\project\wind-agent\README.md</a:t>
            </a:r>
          </a:p>
          <a:p xmlns:a="http://schemas.openxmlformats.org/drawingml/2006/main">
            <a:r>
              <a:t>- C:\coding\project\wind-agent\backend\src\windops_backend\services\seed.py</a:t>
            </a:r>
          </a:p>
          <a:p xmlns:a="http://schemas.openxmlformats.org/drawingml/2006/main">
            <a:r>
              <a:t>- C:\coding\project\wind-agent\backend\src\windops_backend\agents\tools.py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这一页主动说明诚实边界：双运行形态是架构选择，不应把 Demo 结果包装成生产执行。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C:\coding\project\wind-agent\README.md</a:t>
            </a:r>
          </a:p>
          <a:p xmlns:a="http://schemas.openxmlformats.org/drawingml/2006/main">
            <a:r>
              <a:t>- C:\coding\project\wind-agent\backend\README.md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技术亮点不是模型会说什么，而是模型不能越过什么：状态机、工具合同、权限、幂等和证据门禁共同构成行动边界。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C:\coding\project\wind-agent\docs\agent-engineer-interview-project-introduction.md</a:t>
            </a:r>
          </a:p>
          <a:p xmlns:a="http://schemas.openxmlformats.org/drawingml/2006/main">
            <a:r>
              <a:t>- C:\coding\project\wind-agent\backend\src\windops_backend\agents\graph.py</a:t>
            </a:r>
          </a:p>
          <a:p xmlns:a="http://schemas.openxmlformats.org/drawingml/2006/main">
            <a:r>
              <a:t>- C:\coding\project\wind-agent\backend\src\windops_backend\services\agent_governance.py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CARE v6 让 Agent 与异常检测不只依赖手写 fixture；同时用真值隔离、失败关闭和版本化制品控制评估可信度。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C:\coding\project\wind-agent\README.md</a:t>
            </a:r>
          </a:p>
          <a:p xmlns:a="http://schemas.openxmlformats.org/drawingml/2006/main">
            <a:r>
              <a:t>- C:\coding\project\wind-agent\docs\agent-engineer-interview-project-introduction.md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WT-023 是贯穿页面的主故事。重点不是故障结论本身，而是从证据到审批、执行和知识沉淀的完整状态闭环。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C:\coding\project\wind-agent\README.md</a:t>
            </a:r>
          </a:p>
          <a:p xmlns:a="http://schemas.openxmlformats.org/drawingml/2006/main">
            <a:r>
              <a:t>- C:\coding\project\wind-agent\tests\e2e\__screenshots__\dashboard-p1-incident-390.png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结尾明确项目成熟度和下一步：当前是生产候选而非已上线系统，后续价值取决于真实依赖、现场系统与发布环境的联合验收。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C:\coding\project\wind-agent\README.md</a:t>
            </a:r>
          </a:p>
          <a:p xmlns:a="http://schemas.openxmlformats.org/drawingml/2006/main">
            <a:r>
              <a:t>- C:\coding\project\wind-agent\docs\demo-gap-audit.md</a:t>
            </a:r>
          </a:p>
          <a:p xmlns:a="http://schemas.openxmlformats.org/drawingml/2006/main">
            <a:r>
              <a:t>- C:\coding\project\wind-agent\public\og.png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fffcb7223347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b1a0e39149461d" /><Relationship Type="http://schemas.openxmlformats.org/officeDocument/2006/relationships/slideLayout" Target="/ppt/slideLayouts/slideLayout1.xml" Id="R25979e65498849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979e65498849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3f346561e4005" /><Relationship Type="http://schemas.openxmlformats.org/officeDocument/2006/relationships/image" Target="/ppt/media/image.jpeg" Id="Rd6c9e3da0e5b4163" /><Relationship Type="http://schemas.openxmlformats.org/officeDocument/2006/relationships/notesSlide" Target="/ppt/notesSlides/notesSlide1.xml" Id="Rc858c1caaefa45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16a5ffe8004a5d" /><Relationship Type="http://schemas.openxmlformats.org/officeDocument/2006/relationships/notesSlide" Target="/ppt/notesSlides/notesSlide2.xml" Id="Re7c22570c6064a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c09054d99494c" /><Relationship Type="http://schemas.openxmlformats.org/officeDocument/2006/relationships/notesSlide" Target="/ppt/notesSlides/notesSlide3.xml" Id="R423542ed8d4c49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d0d3eb46d4de0" /><Relationship Type="http://schemas.openxmlformats.org/officeDocument/2006/relationships/image" Target="/ppt/media/image.png" Id="R35f18b5888424b99" /><Relationship Type="http://schemas.openxmlformats.org/officeDocument/2006/relationships/notesSlide" Target="/ppt/notesSlides/notesSlide4.xml" Id="Rce1ef364e11b48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2fb6424e6496f" /><Relationship Type="http://schemas.openxmlformats.org/officeDocument/2006/relationships/notesSlide" Target="/ppt/notesSlides/notesSlide5.xml" Id="R5a8acf43d83744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dac0cf17c4a0d" /><Relationship Type="http://schemas.openxmlformats.org/officeDocument/2006/relationships/notesSlide" Target="/ppt/notesSlides/notesSlide6.xml" Id="R60481bd222e241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60bc4332d43fb" /><Relationship Type="http://schemas.openxmlformats.org/officeDocument/2006/relationships/notesSlide" Target="/ppt/notesSlides/notesSlide7.xml" Id="Rc67a8f59617d49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360a731524577" /><Relationship Type="http://schemas.openxmlformats.org/officeDocument/2006/relationships/notesSlide" Target="/ppt/notesSlides/notesSlide8.xml" Id="Rd335a87af4334d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edeb43c02464e" /><Relationship Type="http://schemas.openxmlformats.org/officeDocument/2006/relationships/image" Target="/ppt/media/image2.png" Id="Re0eb35be77dd4a8c" /><Relationship Type="http://schemas.openxmlformats.org/officeDocument/2006/relationships/notesSlide" Target="/ppt/notesSlides/notesSlide9.xml" Id="Rf328feb9c60f4d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513d9f3ab4366" /><Relationship Type="http://schemas.openxmlformats.org/officeDocument/2006/relationships/image" Target="/ppt/media/image3.png" Id="R4e89dd8063d2496a" /><Relationship Type="http://schemas.openxmlformats.org/officeDocument/2006/relationships/notesSlide" Target="/ppt/notesSlides/notesSlide10.xml" Id="R57db95619ed540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4C4521-C830-4CBD-9571-53C92D4A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WINDOPS · AI-NATIVE WIND OPERATIONS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28A6178-B5FC-4792-87B6-C0F740D9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533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风电运维智能体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52333-666F-4411-89BB-4CED3EAA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把异常感知、协同诊断、人工审批与工单执行</a:t>
            </a:r>
          </a:p>
          <a:p xmlns:a="http://schemas.openxmlformats.org/drawingml/2006/main">
            <a:pPr algn="l">
              <a:defRPr sz="18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连成一条可追踪、可恢复、可审计的业务闭环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91BE8-67BD-41CE-B90A-653BDA51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1E855-A9F8-40CA-B0A3-B07086FF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项目介绍 · 10 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115015-95CD-461C-AC0D-9175B07D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509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rPr>
              <a:t>多智能体协作  ·  类型化工具  ·  Human-in-the-loop</a:t>
            </a:r>
          </a:p>
        </p:txBody>
      </p:sp>
      <p:sp>
        <p:nvSpPr>
          <p:cNvPr id="7" name="cover-image-frame">
            <a:extLst xmlns:a="http://schemas.openxmlformats.org/drawingml/2006/main">
              <a:ext uri="{FF2B5EF4-FFF2-40B4-BE49-F238E27FC236}">
                <a16:creationId xmlns:a16="http://schemas.microsoft.com/office/drawing/2014/main" id="{70868CEA-AEB3-45CF-B418-70EFF45F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1950"/>
            <a:ext cx="5410200" cy="5715000"/>
          </a:xfrm>
          <a:prstGeom xmlns:a="http://schemas.openxmlformats.org/drawingml/2006/main" prst="roundRect">
            <a:avLst>
              <a:gd name="adj" fmla="val 2465"/>
            </a:avLst>
          </a:prstGeom>
          <a:solidFill xmlns:a="http://schemas.openxmlformats.org/drawingml/2006/main">
            <a:srgbClr val="E8EEF0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9e3da0e5b4163"/>
          <a:srcRect xmlns:a="http://schemas.openxmlformats.org/drawingml/2006/main" l="23359" t="0" r="233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29350" y="361950"/>
            <a:ext cx="5410200" cy="5715000"/>
          </a:xfrm>
          <a:prstGeom xmlns:a="http://schemas.openxmlformats.org/drawingml/2006/main" prst="roundRect">
            <a:avLst>
              <a:gd name="adj" fmla="val 246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B5E4D0-4DF0-421B-AF6A-6DE34708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5317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9458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99A4E4-F620-4566-A510-21E6888A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01 / 项目背景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98F90BDC-08B4-4AFF-9D09-DCC57C0B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问题不是告警不足，而是处置链路断裂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A1F757-E50D-4F6E-BF12-AE165007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86B30-8E76-4671-B8AA-CADB5D51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38325"/>
            <a:ext cx="3714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数据在，告警在，</a:t>
            </a:r>
          </a:p>
          <a:p xmlns:a="http://schemas.openxmlformats.org/drawingml/2006/main">
            <a:pPr algn="l">
              <a:defRPr sz="31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经验也在。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3FE9E8-6D7B-40B8-845A-8F59B9C5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390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rPr>
              <a:t>缺的是一条能跨越系统、角色与现场执行的可信闭环。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C14A9-CFE6-4F1F-AC30-BAF94B27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76725"/>
            <a:ext cx="352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F7AD8A-3E56-4679-869D-781249E0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16E994-7A8F-4C41-B3E7-81571E44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让每一次异常都有证据、责任、审批和结果。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FA223-9AC4-40B4-B643-1CA40A11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859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B9FE2-F258-4A85-8AB3-64CA34AB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0497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AD02DC-03AC-457F-8B81-4BA24066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657350"/>
            <a:ext cx="599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数据孤岛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C681D0-2A81-4553-883A-08695AA7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000250"/>
            <a:ext cx="599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SCADA、告警、维护记录与知识文档彼此割裂。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95C1A4-D709-4C30-BACA-4DE58624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476500"/>
            <a:ext cx="5991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87DB0A-D6DD-4268-BE02-9646AE25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7336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B053D8-6FFE-4EC9-B275-C6046FA8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7527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EFBBCF-45C6-4866-B9FD-F3EB1253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705100"/>
            <a:ext cx="599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决策断点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663701-E5C4-4814-B94E-5D0112D8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048000"/>
            <a:ext cx="599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从异常到诊断、方案、审批和工单缺少统一状态。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A1ED44-0D56-4409-B020-397A8981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524250"/>
            <a:ext cx="5991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1710D8-DE89-42D4-946B-7DA7FC19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814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1FC681-93EB-4F7F-897F-AF566790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0047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228734-661C-4A94-B34D-C4125F45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752850"/>
            <a:ext cx="599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Agent 难以约束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B80BB9-0A6D-44E0-9221-5167BBF7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095750"/>
            <a:ext cx="599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模型能给建议，但来源、权限与行动边界往往不透明。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59E544-A857-462D-A8EC-767E3137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572000"/>
            <a:ext cx="59912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A259D5-BDDE-41F4-B5EA-25F841B8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8291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D6C8C6-173B-428D-AEDE-074DFBA4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8482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3FD48D-2EEF-4551-B818-08176983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800600"/>
            <a:ext cx="5991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执行难以追溯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74EBAD-DAB3-4980-92CC-545E655B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143500"/>
            <a:ext cx="599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重试和并发可能造成重复工单，现场证据难以核验。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1BD178-0FE8-401A-9E89-AB7429D8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WindOps · 风电运维智能体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C2D8E9-DEAA-4389-ACCF-36BA877A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352985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83926EE-F09E-4F79-9F77-4A63C394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02 / 解决方案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9026D69D-8E21-4289-9447-65A14448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WindOps 把一次异常处置变成受治理的 Agent 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8FF37-5CC9-4563-BA75-CD796992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2E001-8E2D-4799-8BB9-EEE934E9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每个阶段都产生结构化状态，并为下一步提供可验证输入。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12F3B-9262-4353-926B-24962A3C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955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7D73A-1DF7-48F2-B37C-09FECF20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955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82F82-41FD-47BD-AC08-CF6DD9D7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955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E80FA8-E030-4925-A4F6-3A5F7FFF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955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982CF5-D5B2-4624-B697-8D0ABCF0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955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11A7C7-CBEB-46E1-AD49-26A32077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955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BE35AF-07E8-4468-9BD9-3BE6D29B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6955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7691FA-493E-4879-B4A3-3292D8D7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120015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10935D-E22F-4DDD-91B9-249283D5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812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1943AD-2DD8-4F54-A399-FD3501BD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67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感知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C711B-2EEE-4BF9-A785-05FD3F89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981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0"/>
                </a:solidFill>
                <a:latin typeface="Arial"/>
                <a:ea typeface="Arial"/>
                <a:cs typeface="Arial"/>
              </a:rPr>
              <a:t>SCADA / CMS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FD4AA4-E879-47AB-AF79-65A3D0F6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286000"/>
            <a:ext cx="120015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FFF2B0-D825-4CC2-973D-9480B220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3812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87E035-52C0-4D3B-9498-DE6E234E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667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触发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5DC003-F062-4BEF-99B4-F583C06E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981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0"/>
                </a:solidFill>
                <a:latin typeface="Arial"/>
                <a:ea typeface="Arial"/>
                <a:cs typeface="Arial"/>
              </a:rPr>
              <a:t>Alarm + Mission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AA692B-58B6-494B-B442-F4C9A4CF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86000"/>
            <a:ext cx="120015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AAC1AD-0787-43CE-8637-D23A7C84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3812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D2BE96-A9D0-49CE-A497-39480FA9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67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协作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8F5E6F-C63F-4EDE-922F-E14EBBDE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81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0"/>
                </a:solidFill>
                <a:latin typeface="Arial"/>
                <a:ea typeface="Arial"/>
                <a:cs typeface="Arial"/>
              </a:rPr>
              <a:t>专业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297FAA-B260-44E9-A204-EB495EF9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86000"/>
            <a:ext cx="120015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F34295-30CF-4F9E-A48E-B87EF3E6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812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8E2833-ABC0-4EB5-8EDF-EDAA479A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67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取证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D0C1D8-C2C9-478E-BAA7-64E5A63A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81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0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D7BB08-FBEE-4805-835A-28287260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120015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C75461-4BB4-45A5-BEF1-18747E71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812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0E5A66-361D-41F7-B248-6CA4F60F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667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决策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723656-CAFC-4DF0-A392-D668FAFD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981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0"/>
                </a:solidFill>
                <a:latin typeface="Arial"/>
                <a:ea typeface="Arial"/>
                <a:cs typeface="Arial"/>
              </a:rPr>
              <a:t>候选方案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97C72A-6EDA-40E3-A148-DBAEBFBC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86000"/>
            <a:ext cx="120015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4481B9-44A1-4170-A748-4F3BC85A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3812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A7DF11-B98F-4863-94E1-02A296BA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667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把关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A90A6F-9DFB-488F-A233-6BB5C04A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981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0"/>
                </a:solidFill>
                <a:latin typeface="Arial"/>
                <a:ea typeface="Arial"/>
                <a:cs typeface="Arial"/>
              </a:rPr>
              <a:t>评审 + 审批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3DC3F5-EDB0-4CF9-B368-B15C0B13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86000"/>
            <a:ext cx="120015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EB696E-0107-427C-9CDD-CD333BDD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3812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932326-3F5F-47A2-80C6-67BD2DA2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667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62F474-1AFE-4EF8-AE55-ECFED9FA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981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0"/>
                </a:solidFill>
                <a:latin typeface="Arial"/>
                <a:ea typeface="Arial"/>
                <a:cs typeface="Arial"/>
              </a:rPr>
              <a:t>Work Order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5DC220-5CEC-4DA9-8ACF-6EDD93DE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286000"/>
            <a:ext cx="1200150" cy="990600"/>
          </a:xfrm>
          <a:prstGeom xmlns:a="http://schemas.openxmlformats.org/drawingml/2006/main" prst="roundRect">
            <a:avLst>
              <a:gd name="adj" fmla="val 8654"/>
            </a:avLst>
          </a:prstGeom>
          <a:solidFill xmlns:a="http://schemas.openxmlformats.org/drawingml/2006/main">
            <a:srgbClr val="DDF4F2"/>
          </a:solidFill>
          <a:ln xmlns:a="http://schemas.openxmlformats.org/drawingml/2006/main" w="9525">
            <a:solidFill>
              <a:srgbClr val="1AA7A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D42E99-5A33-4B32-9DCE-45F6FFDF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38125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1796BEB-E07D-4C31-A80C-09FD5A4E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667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沉淀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96FF81-9B3D-4C53-A4ED-2902B2A5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981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6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670"/>
                </a:solidFill>
                <a:latin typeface="Arial"/>
                <a:ea typeface="Arial"/>
                <a:cs typeface="Arial"/>
              </a:rPr>
              <a:t>Knowledge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3B5A6D-9F82-45BC-8CA4-240EF530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005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D1D2F6-E6EC-491A-A151-3F5651D0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96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类型化工具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3C89B7C-8B32-4A16-AF0E-AF6BA0A4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事实来自受限查询与确定性计算，写入动作只暴露领域命令。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B1DD24D-2371-4D25-874E-4506DB63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21005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B821E77-4D3F-4385-90DD-27C78BF8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4196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人工硬门禁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8BA6D7D-A55E-446A-8AB6-7CE5FF38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87680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方案必须经过多角色评审；高风险动作只有审批后才能执行。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AF65DB2-0023-4C4F-B242-79AA7B93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1005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4FFB8F9-BCC2-4011-B541-BCFA8095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196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全链路审计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2109E44-2911-469D-839E-83D71A09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7680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工具输入输出、证据、决策、版本、耗时和错误都可追踪。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F10B0A4-3413-48D0-8174-EA76E817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WindOps · 风电运维智能体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549CE69-F227-4367-951C-8A517EF2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892932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81CF00-18EF-497B-A36D-C68C25D8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03 / 产品体验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AC1EBA2F-8294-4E2D-A8BD-819EA101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一个运营工作台覆盖从风场态势到现场闭环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AD840D-B62E-4E28-84C1-54A72705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32ECF-AFFE-4484-B8E8-F61BFD69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首页同时回答：整个风场正在发生什么？AI 正在处理什么？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8A86E-8115-49E7-A892-673DA9DF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7905750" cy="4076700"/>
          </a:xfrm>
          <a:prstGeom xmlns:a="http://schemas.openxmlformats.org/drawingml/2006/main" prst="roundRect">
            <a:avLst>
              <a:gd name="adj" fmla="val 2336"/>
            </a:avLst>
          </a:prstGeom>
          <a:solidFill xmlns:a="http://schemas.openxmlformats.org/drawingml/2006/main">
            <a:srgbClr val="E8EEF0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f18b5888424b99"/>
          <a:srcRect xmlns:a="http://schemas.openxmlformats.org/drawingml/2006/main" l="0" t="4188" r="0" b="4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019300"/>
            <a:ext cx="7905750" cy="4076700"/>
          </a:xfrm>
          <a:prstGeom xmlns:a="http://schemas.openxmlformats.org/drawingml/2006/main" prst="roundRect">
            <a:avLst>
              <a:gd name="adj" fmla="val 233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DE3FBA-26E4-4D20-A822-B6B81B09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19300"/>
            <a:ext cx="2781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36B7B8-8434-4C8B-8E65-47D7EC18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57425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6EA0D-48AD-4A35-8B7B-7A2C6C93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1942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核心闭环页面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CA79D0-7DB3-44E4-9F17-F4592380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运营中心、风场、风机、SCADA、告警、Agent、Mission、决策与工单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7A6B7F-CD47-451F-8C81-C0A1ED09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10025"/>
            <a:ext cx="2781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67BC3F-0825-47FD-8339-DDC6D1B6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4815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7A58BC-7025-42F6-AC23-C660A92E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101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专业 / 平台工作区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928D83-48AC-4D86-B6B4-4F6D9E38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19725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健康、预测维护、资源、知识、报告、数字孪生、数据、模型与设置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B46CD9-D74C-415B-9681-EE665D18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4357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rPr>
              <a:t>统一主故事：WT-023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25BB1A-4011-491C-86AD-2E9DB00B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WindOps · 风电运维智能体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E3158A-0E7B-4E49-ADCD-FB70A507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861321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2B21BE-9CE2-4E6B-B673-DF2C3BF7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04 / AGENT 设计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91EB6B7F-FCB8-465C-9308-929DB553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多智能体的价值是职责隔离，而不是角色堆叠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A482D-530E-4616-AA0F-EF8A17A7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1BF53-5B03-4AB1-9015-445FD739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演示工作区组织 22 个 Agent；生产候选以 11 个类型化业务工具约束真实行动。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8C04E1-2539-467E-8F34-ACFBC27F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AA7A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AA7A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5BBE2-D288-4829-8CD8-143974B4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Decision Layer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CF11D-310C-4443-8186-38D65124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读取数据、形成证据、提出受约束方案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607183-825F-4F12-8E47-865FDBB6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28975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7C0228-B4A5-4D51-AFDF-DF3A48E0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52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4BACC5-0DBF-4299-A7A5-DC0271A0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SCADA / 振动 / 历史案例分析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E9357E-CBD0-4F8A-86D5-06C6920E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05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E07A2-A480-4FDA-BC11-F6FFBAE3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健康度与 RUL 确定性计算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EAF43-7561-4DEF-BC9F-6681EF39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57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671EE0-EE54-4BB0-A055-9BC71E1F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生成 3 个候选维护方案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4EEBA3-EDDE-405A-9C57-AF0E8AC8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0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267178-8F33-4DDC-BF74-80408FCD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输出 Evidence 与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CA48D7-F4F4-4C59-9667-0CBEF81A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002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D48A12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D48A1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E6FA23-88EF-44D1-AE2F-A3B84683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098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Review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433FE6-F4CD-408A-8A7E-EA3A5F37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098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工程、安全、资源与经济性独立评审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C06995-3786-463B-8D5F-4FCDB57F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28975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BF8082-673C-43DD-A6F8-82A07B89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52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7228DF-DCA6-4F3B-B636-3CDE5458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42900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不同角色拥有不同权限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D65746-C807-4C77-A58B-0166CD24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05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4524B4-0FD4-4B93-AF1C-277202B6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8145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每个结论必须引用公开证据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B87F7E-1F0A-4619-93D3-56E8224B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57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4A99BE-4735-43B2-B08F-7C0EA8AB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53390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不确定信息明确失败或升级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F2868B-D05E-47A5-9E9D-FC16DA0A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210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9A7A5C-0599-41D4-8ED5-2616651D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08635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人工批准 / 拒绝 / 退修 / 升级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ACB180-3912-45BD-BC85-1AA7DF25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002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D94C5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D94C5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3A98B4-EFF2-4300-B914-0E115A77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Execution Layer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F2AEDF-E818-45B2-AF79-BBC6B071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098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审批后执行，并以现场证据完成闭环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0EC32D-175F-4A2C-A191-39135268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28975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19E555-E882-49F5-BAA8-42AB316E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52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190B32-FB39-4E60-BD2D-6174165A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2900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原子预留班组、船舶与备件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96FF97-4BE2-42E9-8216-2B43AF0E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05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82B64B-06FB-4062-93C0-237825EA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8145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按治理顺序完成现场任务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0033C9-64EA-4FAC-8ECB-FE7D470B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57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FA96F1-131B-49AD-9D76-C8034B21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3390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URI + SHA-256 + measurement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0E4E2B-914D-4DB7-AF1A-CCFBDDE2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10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2CC41C-6EF7-4E96-939D-02523540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86350"/>
            <a:ext cx="31051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回写健康度并生成知识案例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EA0D43-0E5E-4EBD-9D3C-F3627279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871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D26"/>
          </a:solidFill>
          <a:ln xmlns:a="http://schemas.openxmlformats.org/drawingml/2006/main" w="9525">
            <a:solidFill>
              <a:srgbClr val="0B1D2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F1F440-B93C-4F7C-8A6D-8B75D0B2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工程价值 = 独立权限 + 独立验收标准 + 可追踪交接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DC29AE-018C-4A16-9330-6A9D1EE0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WindOps · 风电运维智能体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EFB065-CD50-413A-AE2B-7BCE3831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769510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553ADA-5400-48F6-8C1C-F7378556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05 / 系统架构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9A0EE59B-B3D5-407A-BA9D-ED286EE8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双运行架构兼顾稳定演示与生产候选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83273-1DA6-4177-B3B9-5392BBF7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C40F5-07AA-4321-8A5A-60986B68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共享前端领域契约，但数据来源、身份边界与执行可信度严格隔离。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6CF222-975D-4DF2-A31C-70FD2486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705100"/>
            <a:ext cx="26670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8900B-8797-43AE-A19E-F3077530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429000"/>
            <a:ext cx="26670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91C84-F4CC-4FF5-B588-F470F520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52900"/>
            <a:ext cx="26670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62CFD-AE83-4450-BDBE-330EAE8E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05100"/>
            <a:ext cx="26670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A50733-5D1F-4696-8C11-FBC1C306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429000"/>
            <a:ext cx="26670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E84540-FAA7-444D-ABCE-DDA83528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152900"/>
            <a:ext cx="26670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294993-7963-4A8F-B02C-62ABD5AE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14525"/>
            <a:ext cx="5334000" cy="3286125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DDF4F2"/>
          </a:solidFill>
          <a:ln xmlns:a="http://schemas.openxmlformats.org/drawingml/2006/main" w="9525">
            <a:solidFill>
              <a:srgbClr val="1AA7A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4B7B54-5C35-424D-A84D-1299D668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14525"/>
            <a:ext cx="5334000" cy="3286125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0DE452-F044-41F8-B42E-C3AE349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DEMO · 可重复演示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7E051-AB24-4DBF-BD19-7260B963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PRODUCTION CANDIDATE · 受治理执行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5968B6-8145-4F4D-B291-33B60640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24125"/>
            <a:ext cx="4686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03BFD3-78FD-40FB-9952-0ACFAB7F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445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React 19 运营工作区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54E3BE-AAA6-46AD-9835-8B33BA32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4686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A28A6E-12B5-4A5B-B5CF-8957078F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445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Sites Worker API + D1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929862-6F22-455A-9918-0ACA959A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71925"/>
            <a:ext cx="4686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BFDAC5-D855-48B2-ABF4-23B14C3B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445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17-tool 确定性运行时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3294A3-B300-4522-9DAF-ADADDB13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95825"/>
            <a:ext cx="4686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D26"/>
          </a:solidFill>
          <a:ln xmlns:a="http://schemas.openxmlformats.org/drawingml/2006/main" w="9525">
            <a:solidFill>
              <a:srgbClr val="0B1D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232D04-1431-4E79-A092-4DF4C2DF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81550"/>
            <a:ext cx="445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用途：稳定演示、截图与回归测试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7DB41C-9F9A-49AF-91A9-4D75DB3B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24125"/>
            <a:ext cx="4686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EEBF86-3FBB-4A68-939D-413061D7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09850"/>
            <a:ext cx="445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Sites 身份网关 + 路由白名单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B5ECB1-1D99-424D-9EF8-50052444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48025"/>
            <a:ext cx="4686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CDF170-06FA-4DDF-869B-A47FCDC5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33750"/>
            <a:ext cx="445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FastAPI + LangGraph + LiteLLM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418005-C677-47E1-87A4-C0B14B3A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71925"/>
            <a:ext cx="2266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A1301F-02A1-4622-B80C-149A5B55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5765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PostgreSQL / TimescaleDB / pgvector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B48ED2-2AA2-46A0-9FA5-1C769906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71925"/>
            <a:ext cx="22669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1B6B86-8519-45F1-8081-43B2D78C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5765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Redis / MinIO / Neo4j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6E66E4-8CB4-4A7F-A7F1-F87DCE1C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5825"/>
            <a:ext cx="4686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D26"/>
          </a:solidFill>
          <a:ln xmlns:a="http://schemas.openxmlformats.org/drawingml/2006/main" w="9525">
            <a:solidFill>
              <a:srgbClr val="0B1D2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D82F11-3BF9-407A-8791-35AA4714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81550"/>
            <a:ext cx="445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用途：真实依赖下的可靠、可审计执行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171B2A-682B-49D3-AB4E-6CCFF4B3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11087100" cy="742950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FFF1D5"/>
          </a:solidFill>
          <a:ln xmlns:a="http://schemas.openxmlformats.org/drawingml/2006/main" w="9525">
            <a:solidFill>
              <a:srgbClr val="D48A1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5C81D6-C956-468B-A53B-876A2E98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483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48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48A12"/>
                </a:solidFill>
                <a:latin typeface="Microsoft YaHei"/>
                <a:ea typeface="Microsoft YaHei"/>
                <a:cs typeface="Microsoft YaHei"/>
              </a:rPr>
              <a:t>运行边界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8F6CD5-0C51-4502-AD64-A29B0259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6197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Demo 结果不等于生产 Agent 调用；生产候选仍需真实身份、模型供应商、现场系统与发布环境联合验收。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9B7689-053E-47CE-AA92-0B8ED484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WindOps · 风电运维智能体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60F008-E85F-428F-89F1-012B7942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957740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496B92-A53A-43A1-AE31-00CD41E0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06 / 工程治理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2ED0E79C-730D-4965-9021-CB123B85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关键动作由四道工程门禁共同约束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0745C-CFE5-4BA2-AFD1-4609B265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4C063-7249-4C7F-94CE-F6A5CB90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Prompt 负责推理引导；真正的权限、状态与提交由服务端控制。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DF65BC-143D-499F-A033-6B67F423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AA7A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AA7A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CDB31-FB4A-46A5-9999-1CE7C6F2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812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状态机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8C9F7-072B-4C5C-B617-4D80B54F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981200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Mission、Decision、Approval、Work Order 的转换由服务端校验，模型文本不能伪造“已批准”。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6703B2-1AB6-45B9-BE8D-A7CCEF3D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71775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8BC22A-32F5-41ED-A937-7B5F4197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03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48A1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48A1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0913C-DC84-4552-9C25-6E7AECF8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622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工具与权限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E5DAE8-EEB3-42C8-97F6-0269F69A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962275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Pydantic / JSON Schema、租户与资产范围、最小权限工具；不提供任意 SQL、Shell 或万能写接口。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D8A2BB-694D-4843-92D1-06581F2D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5285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1F5D10-0866-4BD6-8B26-2FBFA2AC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4C5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94C5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E43ECA-57B2-4FAB-8EED-3F67B0D7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可靠执行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892243-7BEF-4976-93D5-DAEA8D89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943350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Idempotency-Key、revision / CAS、transactional outbox、可恢复租约与 fencing token 共同处理重试和并发。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2A6F0F-310D-4538-891E-700E98A0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33925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6E4FB7-A446-4433-A0A5-3C135C82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625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D8B6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D8B6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41ECFA-8C6B-40F6-9961-77B4D021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244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证据与人工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C71507-660C-4BE5-8486-BF6A08A3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924425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Evidence → Decision → 多角色评审 → HITL；现场任务必须提交 URI、SHA-256 与结构化 measurement。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D7DC42-FB91-4526-A937-E61BEB83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150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5AB3BE-161C-4CB8-860B-80BCE0CC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971675"/>
            <a:ext cx="2371725" cy="390525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0B1D26"/>
          </a:solidFill>
          <a:ln xmlns:a="http://schemas.openxmlformats.org/drawingml/2006/main" w="9525">
            <a:solidFill>
              <a:srgbClr val="0B1D2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BBF890-A95A-4D39-B534-09C83305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38375"/>
            <a:ext cx="1876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审计可见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D02D86-D482-4BCF-8FE7-4E4F16EC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78130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AC6D76-CA90-4674-9EB9-047066E9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43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87E3C0-623B-4FC2-8716-DA52928A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289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工具输入 / 输出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B5B417-2EAA-4861-B9B8-FE56EC6A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81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7125BC-7563-4740-BDAD-6120C35C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4671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证据与来源引用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7DCF20-E93E-4787-81DA-FA4D2D8A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019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9CFEC5-C846-41B3-97F6-8BB6142E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9052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模型与版本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65D039-E40C-424C-9940-1405503F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457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892BE9-90F5-4C7B-9190-7B3885DD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3434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延迟、token 与错误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103FBE-5B36-4AA1-B2B9-A2D7218F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95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BA4BFF-82B7-4356-BE95-553205FF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7815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审批与现场凭证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C2855B-AB1D-4832-9788-FD7637AE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5267325"/>
            <a:ext cx="1876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48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48A12"/>
                </a:solidFill>
                <a:latin typeface="Microsoft YaHei"/>
                <a:ea typeface="Microsoft YaHei"/>
                <a:cs typeface="Microsoft YaHei"/>
              </a:rPr>
              <a:t>不保存或伪造</a:t>
            </a:r>
          </a:p>
          <a:p xmlns:a="http://schemas.openxmlformats.org/drawingml/2006/main">
            <a:pPr algn="l">
              <a:defRPr sz="1200" b="1">
                <a:solidFill>
                  <a:srgbClr val="D48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48A12"/>
                </a:solidFill>
                <a:latin typeface="Microsoft YaHei"/>
                <a:ea typeface="Microsoft YaHei"/>
                <a:cs typeface="Microsoft YaHei"/>
              </a:rPr>
              <a:t>隐藏 Chain-of-Thought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7BEA66-9B21-4AFA-B171-59EF5277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WindOps · 风电运维智能体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5A5518-0C7F-4CA3-A9B4-69398E44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45710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4D04D1D-6494-4521-8D4D-9FDC629D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07 / 数据与评估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6CA362EA-4967-4ABC-8172-239229D2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真实数据评估把模型效果纳入可发布的工程门禁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642BC-10F9-4201-850F-889074D3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51C0A-0C7A-48D7-9C86-355CD59C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CARE v6 路径覆盖数据合同、质量、真值隔离、离线评估与有界在线回放。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36835-234F-4F0F-93C9-207DD15E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28825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FC9822-4B2B-49F0-9B33-49838DC4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5,242,948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93D411-54CE-4FDE-A6D6-74168661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数据行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097FC-5840-4B14-ABEC-B5A6DC31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385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101 个 CSV，95 个事件；原始数据只读，不进入仓库。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D6436B-6DCE-46AF-ACA2-448E897B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28825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078826-3853-44DF-AB96-46646765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4682C9-860D-421B-ACD2-CCEB5C44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289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场内留一资产 fold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E76523-EBA7-4D1D-BEF3-FC220CD6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385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覆盖 95 个事件，失败与不可评分事件同样纳入汇总。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3AC5D4-4FFA-4D20-9283-168D142C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28825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C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FDA981-C15C-46A6-A9E0-8E0B9410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669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281,249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8A6CB3-FFB9-44B9-A919-DE269C91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预测点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8DD7AF-5728-43BB-B911-BDAAA10A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38525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预测先冻结，最终 evaluator 才能读取真值。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C059E5-6B7A-41D3-BBD1-CD6E9570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候选门禁结果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48B2B1-59A6-406F-92DA-02F3A78F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D8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D8B69"/>
                </a:solidFill>
                <a:latin typeface="Microsoft YaHei"/>
                <a:ea typeface="Microsoft YaHei"/>
                <a:cs typeface="Microsoft YaHei"/>
              </a:rPr>
              <a:t>12 通过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8F7151-A674-4DA7-9DA3-56B237DC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9339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4C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D94C57"/>
                </a:solidFill>
                <a:latin typeface="Microsoft YaHei"/>
                <a:ea typeface="Microsoft YaHei"/>
                <a:cs typeface="Microsoft YaHei"/>
              </a:rPr>
              <a:t>24 未通过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AA1C97-8EE7-43CE-89FD-C4DBA93B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387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027620-61DD-472A-A4B5-1D7C7E4E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3877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DE725B-F6F5-4CEE-A26E-B983A47C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340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失败候选完整登记，不用删除样本换取更好指标。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C7294C-4026-4C1A-BA5D-5ED6AEB2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5286375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B44197-75C7-41EE-9F5B-4C20EE32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286375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164263-C54E-4FBC-95C1-C735E26C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286375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0DBE12-08F4-4302-81EF-4F33E707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286375"/>
            <a:ext cx="2286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8A16A7-EE22-40BE-938F-318CA232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95825"/>
            <a:ext cx="1143000" cy="12001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FB79C6-0DDF-4A9E-85D4-CD0B89EA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95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只读源数据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308DE9-EE94-475F-BACB-10304902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578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授权位置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E0FAFB-FA56-4F9A-9548-187E91D6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695825"/>
            <a:ext cx="1143000" cy="12001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0B5CC9-CD1D-4FB0-A547-9850A924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95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合同与质量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AD418D-4A4A-4976-9B0C-11933496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2578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unknown / missing 失败关闭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3DF106-F47D-43E0-A23F-E676311F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95825"/>
            <a:ext cx="1143000" cy="12001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E7D660-63C5-43D9-AECF-58BBB0C2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95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宽表 Parquet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545C86-B8DD-47C6-9DAC-70A0E39B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578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分块、列裁剪、有界内存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B28FE4-2157-4AAC-B40B-E05EC8CB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95825"/>
            <a:ext cx="1143000" cy="12001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74A28C-291B-48F6-9886-A19D85F3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895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LOAO 评估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DD24DF-0A0D-48F6-96AC-A965EDE6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2578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场内泛化，不宣称跨场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D4B247-3631-4ADC-882C-0F15CAC6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695825"/>
            <a:ext cx="1143000" cy="12001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DF4F2"/>
          </a:solidFill>
          <a:ln xmlns:a="http://schemas.openxmlformats.org/drawingml/2006/main" w="9525">
            <a:solidFill>
              <a:srgbClr val="1AA7A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C96DEC-C1B3-4C0D-B982-D2790216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8958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有界回放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E70126-C2AB-4B5B-9267-05D0B798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2578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prediction → Alarm → Mission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5324DB-BC15-44BE-85D5-C0E0688E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010275"/>
            <a:ext cx="687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数据口径：仓库记录的 2026-08-27/29 本地候选与只读复核证据，不等同于生产上线。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DF3FD3-E3AF-4C80-A8EC-4A033E56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WindOps · 风电运维智能体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F872BF1-70A6-4FBA-A3A0-BE34030C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625430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A7357A-5965-4539-B5E7-7C4F2923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6F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6F6C"/>
                </a:solidFill>
                <a:latin typeface="Arial"/>
                <a:ea typeface="Arial"/>
                <a:cs typeface="Arial"/>
              </a:rPr>
              <a:t>08 / 业务案例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03106B94-AA5C-4B66-9148-752606CF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WT-023 展示从异常到闭环的完整业务价值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2D42A2-D415-4957-878F-68B4F7E5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10557-1F15-4384-8440-DB571165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主轴承振动、温度与多变量异常共同触发 P1 事件。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200BA-798E-426B-A841-E0909FC0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3714750" cy="156210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C7CDD2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eb35be77dd4a8c"/>
          <a:stretch xmlns:a="http://schemas.openxmlformats.org/drawingml/2006/main"/>
        </p:blipFill>
        <p:spPr>
          <a:xfrm xmlns:a="http://schemas.openxmlformats.org/drawingml/2006/main">
            <a:off x="876492" y="2143125"/>
            <a:ext cx="3066666" cy="1276350"/>
          </a:xfrm>
          <a:prstGeom xmlns:a="http://schemas.openxmlformats.org/drawingml/2006/main" prst="roundRect">
            <a:avLst>
              <a:gd name="adj" fmla="val 522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7A902-F027-4A54-BB14-CDED53A9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振动 RMS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D80BB9-D887-423D-93D1-B0473FCF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29050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4C5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4C57"/>
                </a:solidFill>
                <a:latin typeface="Arial"/>
                <a:ea typeface="Arial"/>
                <a:cs typeface="Arial"/>
              </a:rPr>
              <a:t>4.81 mm/s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FC2A8-58CE-496E-B8B7-2EE3D8E7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671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阈值 4.5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B4EE91-74D3-4827-9025-BA85C6D5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9575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AB0E70-E304-4F05-AC4C-9661B624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主轴承温度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95D9AA-82AC-42A0-B1F5-36A1F31E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57700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48A1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48A12"/>
                </a:solidFill>
                <a:latin typeface="Arial"/>
                <a:ea typeface="Arial"/>
                <a:cs typeface="Arial"/>
              </a:rPr>
              <a:t>76.4°C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7CC81E-C986-4F4B-BF5A-99D2C471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958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阈值 75°C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B5CB5E-B74D-4B00-B9C5-498973BD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48225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CBD032-3F3E-485F-82C3-AA56AD20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24450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异常分数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20D06F-0E88-498D-89D6-6E4D2F29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086350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A7A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A7A1"/>
                </a:solidFill>
                <a:latin typeface="Arial"/>
                <a:ea typeface="Arial"/>
                <a:cs typeface="Arial"/>
              </a:rPr>
              <a:t>0.86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8C83B7-1BE3-4C29-9E13-77A6330E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1244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阈值 0.65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6D2C8C-9056-45E7-B96F-F92D87D9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76875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A1466C-8F6B-4F3E-8170-5B1A14F3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105025"/>
            <a:ext cx="2857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3FD224-3817-4759-924D-1ADC2C7F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95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C5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C02AE7-571F-40AD-AF94-348EDF12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431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A54BF1-2E53-4AD2-90A9-9F204C93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240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异常触发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350DBA-E892-40FB-A4FF-65935930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95525"/>
            <a:ext cx="604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SCADA 样本、Alarm、Mission 与 outbox event 在同一事务提交。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F56492-D937-4D6C-8A18-DF9901E5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24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A7A1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D558FC-DC3B-4A8E-ABE3-7CB0DE10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1718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171769-8B36-4326-94C2-C2E19C12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527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协同诊断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D5EC4D-3CF6-4579-8032-0568AD02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24225"/>
            <a:ext cx="604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Agent 查询时序、振动、历史维护与相似案例，形成结构化 Evidence。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E7E7C0-DAFC-45F4-9980-A2747F45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152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8A1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FF9D65-31B9-4DDE-8566-EB040AC8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2005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D761AF-38AA-4786-8225-0BCEF49D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9814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方案与审批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725F0D-810B-4009-A8C8-2341B1E8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52925"/>
            <a:ext cx="604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生成 A / B / C 三个方案，多角色评审后由人工批准或退修。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47D8C2-059D-4BD0-8C8C-81F0DFB8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181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315EE8-51C3-4B46-ABAC-CA35C7B8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2292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881FD9-860A-4C26-8D16-1263BC67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0101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现场闭环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DF5542-57DD-44C6-851E-E94F1822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381625"/>
            <a:ext cx="604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5 项任务逐项提交证据；健康度回写至 82，并生成知识案例。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82AABE-AA3D-4391-807D-317029B7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924550"/>
            <a:ext cx="6629400" cy="3714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1D26"/>
          </a:solidFill>
          <a:ln xmlns:a="http://schemas.openxmlformats.org/drawingml/2006/main" w="9525">
            <a:solidFill>
              <a:srgbClr val="0B1D2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55B56C-DE9B-4670-8045-A323AD45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000750"/>
            <a:ext cx="624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展示的不是一次 LLM 回复，而是一条完整、可审计的业务状态变化。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9F2729-8E8A-49CC-BE51-C209B58C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A949D"/>
                </a:solidFill>
                <a:latin typeface="Microsoft YaHei"/>
                <a:ea typeface="Microsoft YaHei"/>
                <a:cs typeface="Microsoft YaHei"/>
              </a:rPr>
              <a:t>WindOps · 风电运维智能体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6FCCAF-EE98-4E0C-828E-38427FAC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03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142165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89dd8063d2496a"/>
          <a:srcRect xmlns:a="http://schemas.openxmlformats.org/drawingml/2006/main" l="21389" t="0" r="21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550" y="0"/>
            <a:ext cx="58864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76A5A-F5D6-4579-8C7A-F272D23B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rPr>
              <a:t>09 / 总结与下一步</a:t>
            </a:r>
          </a:p>
        </p:txBody>
      </p:sp>
      <p:sp>
        <p:nvSpPr>
          <p:cNvPr id="3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20358B7B-0675-4022-B353-EC6385BA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8107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从“可演示”</a:t>
            </a:r>
          </a:p>
          <a:p xmlns:a="http://schemas.openxmlformats.org/drawingml/2006/main">
            <a:pPr algn="l">
              <a:defRPr sz="39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走向“可验收”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A46B5-D247-4DCE-B638-6478C317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rPr>
              <a:t>当前已具备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4A014-6953-44E6-B37C-40FA0623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0E2C96-4E1E-44C8-A928-6E7C1C8C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81325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端到端异常处置闭环与统一业务状态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344C6-9296-4AC6-A9FD-E03D36DE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265AC-D6FC-4B0B-903C-57CD2284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0995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受约束多 Agent、类型化工具与人工门禁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3A90F5-A597-4CB4-90E3-44775E6F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A4E2BD-DC9B-4D99-B93E-449BCFE8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38575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Demo / Production Candidate 双运行边界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D2B4BD-3C92-4F27-97E9-35F3D750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91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B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869ED4-15DE-44D5-87F5-834EF196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6720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820"/>
                </a:solidFill>
                <a:latin typeface="Microsoft YaHei"/>
                <a:ea typeface="Microsoft YaHei"/>
                <a:cs typeface="Microsoft YaHei"/>
              </a:rPr>
              <a:t>CARE v6 数据评估与工程质量门禁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0C51C5-46D8-4613-B2A2-D2BFC78B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387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CC35D4-0F78-4B0D-BDCC-F9CA57DD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577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48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48A12"/>
                </a:solidFill>
                <a:latin typeface="Microsoft YaHei"/>
                <a:ea typeface="Microsoft YaHei"/>
                <a:cs typeface="Microsoft YaHei"/>
              </a:rPr>
              <a:t>下一阶段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E5C442-F78B-4F5A-B549-E8DDFF5F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57825"/>
            <a:ext cx="514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真实身份与模型供应商联调 · 现场 SCADA/CMS/EAM 接入 · 签名制品与集群准入 · 风场试点指标与 SOP 验收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7A8034-D0D6-4169-BA98-D32AD07B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38875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D6F6C"/>
                </a:solidFill>
                <a:latin typeface="Microsoft YaHei"/>
                <a:ea typeface="Microsoft YaHei"/>
                <a:cs typeface="Microsoft YaHei"/>
              </a:rPr>
              <a:t>让 Agent 在工业现场可用、可控、可追责。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BD0777-A721-42B6-BC74-BA0E3E09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634278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2026-08-31T01:53:05.4320000Z</dcterms:created>
  <dcterms:modified xsi:type="dcterms:W3CDTF">2026-08-31T01:53:05.4330000Z</dcterms:modified>
</coreProperties>
</file>