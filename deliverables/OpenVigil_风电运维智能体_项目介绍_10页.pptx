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cfa78d95294d18" /><Relationship Type="http://schemas.openxmlformats.org/officeDocument/2006/relationships/extended-properties" Target="/docProps/app.xml" Id="Rcda37734761f4f5a" /><Relationship Type="http://schemas.openxmlformats.org/officeDocument/2006/relationships/officeDocument" Target="/ppt/presentation.xml" Id="R521450a7cf75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fe4bb253624441"/>
  </p:sldMasterIdLst>
  <p:notesMasterIdLst>
    <p:notesMasterId xmlns:r="http://schemas.openxmlformats.org/officeDocument/2006/relationships" r:id="R840259dfb3934f9f"/>
  </p:notesMasterIdLst>
  <p:sldIdLst>
    <p:sldId xmlns:r="http://schemas.openxmlformats.org/officeDocument/2006/relationships" id="256" r:id="Rdf5a251ab8c24392"/>
    <p:sldId xmlns:r="http://schemas.openxmlformats.org/officeDocument/2006/relationships" id="257" r:id="R98093cb990e14be9"/>
    <p:sldId xmlns:r="http://schemas.openxmlformats.org/officeDocument/2006/relationships" id="258" r:id="R1a1d58892e3e4736"/>
    <p:sldId xmlns:r="http://schemas.openxmlformats.org/officeDocument/2006/relationships" id="259" r:id="R17326f55c5fc435b"/>
    <p:sldId xmlns:r="http://schemas.openxmlformats.org/officeDocument/2006/relationships" id="260" r:id="Rfb31ba3b69f443e5"/>
    <p:sldId xmlns:r="http://schemas.openxmlformats.org/officeDocument/2006/relationships" id="261" r:id="R4348c85c2f274c92"/>
    <p:sldId xmlns:r="http://schemas.openxmlformats.org/officeDocument/2006/relationships" id="262" r:id="R4ac7147582224fe2"/>
    <p:sldId xmlns:r="http://schemas.openxmlformats.org/officeDocument/2006/relationships" id="263" r:id="Re5464234a0f94e9e"/>
    <p:sldId xmlns:r="http://schemas.openxmlformats.org/officeDocument/2006/relationships" id="264" r:id="Re7ef86b0b4f8413a"/>
    <p:sldId xmlns:r="http://schemas.openxmlformats.org/officeDocument/2006/relationships" id="265" r:id="R65368872b85a45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285cb508194cb8" /><Relationship Type="http://schemas.openxmlformats.org/officeDocument/2006/relationships/slideMaster" Target="/ppt/slideMasters/slideMaster1.xml" Id="R6bfe4bb253624441" /><Relationship Type="http://schemas.openxmlformats.org/officeDocument/2006/relationships/notesMaster" Target="/ppt/notesMasters/notesMaster1.xml" Id="R840259dfb3934f9f" /><Relationship Type="http://schemas.openxmlformats.org/officeDocument/2006/relationships/presProps" Target="/ppt/presProps.xml" Id="R7404472c881c4913" /><Relationship Type="http://schemas.openxmlformats.org/officeDocument/2006/relationships/tableStyles" Target="/ppt/tableStyles.xml" Id="R487e5027d5064403" /><Relationship Type="http://schemas.openxmlformats.org/officeDocument/2006/relationships/slide" Target="/ppt/slides/slide1.xml" Id="Rdf5a251ab8c24392" /><Relationship Type="http://schemas.openxmlformats.org/officeDocument/2006/relationships/slide" Target="/ppt/slides/slide2.xml" Id="R98093cb990e14be9" /><Relationship Type="http://schemas.openxmlformats.org/officeDocument/2006/relationships/slide" Target="/ppt/slides/slide3.xml" Id="R1a1d58892e3e4736" /><Relationship Type="http://schemas.openxmlformats.org/officeDocument/2006/relationships/slide" Target="/ppt/slides/slide4.xml" Id="R17326f55c5fc435b" /><Relationship Type="http://schemas.openxmlformats.org/officeDocument/2006/relationships/slide" Target="/ppt/slides/slide5.xml" Id="Rfb31ba3b69f443e5" /><Relationship Type="http://schemas.openxmlformats.org/officeDocument/2006/relationships/slide" Target="/ppt/slides/slide6.xml" Id="R4348c85c2f274c92" /><Relationship Type="http://schemas.openxmlformats.org/officeDocument/2006/relationships/slide" Target="/ppt/slides/slide7.xml" Id="R4ac7147582224fe2" /><Relationship Type="http://schemas.openxmlformats.org/officeDocument/2006/relationships/slide" Target="/ppt/slides/slide8.xml" Id="Re5464234a0f94e9e" /><Relationship Type="http://schemas.openxmlformats.org/officeDocument/2006/relationships/slide" Target="/ppt/slides/slide9.xml" Id="Re7ef86b0b4f8413a" /><Relationship Type="http://schemas.openxmlformats.org/officeDocument/2006/relationships/slide" Target="/ppt/slides/slide10.xml" Id="R65368872b85a45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20caccaff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2dc47af12f486e" /><Relationship Type="http://schemas.openxmlformats.org/officeDocument/2006/relationships/notesMaster" Target="/ppt/notesMasters/notesMaster1.xml" Id="Rd9c1da6f8655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24e25570a641e2" /><Relationship Type="http://schemas.openxmlformats.org/officeDocument/2006/relationships/notesMaster" Target="/ppt/notesMasters/notesMaster1.xml" Id="R697f6eafead9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f110932e0747b9" /><Relationship Type="http://schemas.openxmlformats.org/officeDocument/2006/relationships/notesMaster" Target="/ppt/notesMasters/notesMaster1.xml" Id="R1867bb1f7436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7ad7b51c764039" /><Relationship Type="http://schemas.openxmlformats.org/officeDocument/2006/relationships/notesMaster" Target="/ppt/notesMasters/notesMaster1.xml" Id="R2be81cbb9ad44c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8f480101d4dce" /><Relationship Type="http://schemas.openxmlformats.org/officeDocument/2006/relationships/notesMaster" Target="/ppt/notesMasters/notesMaster1.xml" Id="R8ddad9cc9b8d4d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7321fd43f41be" /><Relationship Type="http://schemas.openxmlformats.org/officeDocument/2006/relationships/notesMaster" Target="/ppt/notesMasters/notesMaster1.xml" Id="R63737e51512741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045c7175794b63" /><Relationship Type="http://schemas.openxmlformats.org/officeDocument/2006/relationships/notesMaster" Target="/ppt/notesMasters/notesMaster1.xml" Id="R5b6c845d8c6c45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4ecd0a757e44bd" /><Relationship Type="http://schemas.openxmlformats.org/officeDocument/2006/relationships/notesMaster" Target="/ppt/notesMasters/notesMaster1.xml" Id="Rc96f75c21a0042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2cf40824504dfb" /><Relationship Type="http://schemas.openxmlformats.org/officeDocument/2006/relationships/notesMaster" Target="/ppt/notesMasters/notesMaster1.xml" Id="Rdcb63ef48ee643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6cabafcd548fb" /><Relationship Type="http://schemas.openxmlformats.org/officeDocument/2006/relationships/notesMaster" Target="/ppt/notesMasters/notesMaster1.xml" Id="R9abe9008d3ae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开场用一句话定义项目：OpenVigil 不是聊天界面，而是面向风电异常处置的受治理智能体闭环。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C:\coding\project\wind-agent\public\openvigil-command-center.png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这一页把技术工作转译为业务问题：OpenVigil 的核心目标是闭环，而不是增加一个告警列表或聊天框。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沿着箭头讲清主线：数据触发 Mission，多 Agent 产生证据和方案，人类批准后才进入工单，现场结果再沉淀为知识。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强调页面并非孤立展示：Dashboard、Mission、Decision、Work Order、Health 与 Knowledge 读取同一业务故事和服务器状态。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C:\coding\project\wind-agent\docs\design\openvigil-operations-command-center-concept-v2.png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 UI 中的 Agent 组织与生产工具合同：多 Agent 不是为了增加角色名，而是为了把职责、权限和验收拆开。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C:\coding\project\wind-agent\backend\src\windops_backend\services\seed.py</a:t>
            </a:r>
          </a:p>
          <a:p xmlns:a="http://schemas.openxmlformats.org/drawingml/2006/main">
            <a:r>
              <a:t>- C:\coding\project\wind-agent\backend\src\windops_backend\agents\tools.py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这一页主动说明诚实边界：双运行形态是架构选择，不应把 Demo 结果包装成生产执行。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技术亮点不是模型会说什么，而是模型不能越过什么：状态机、工具合同、权限、幂等和证据门禁共同构成行动边界。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  <a:p xmlns:a="http://schemas.openxmlformats.org/drawingml/2006/main">
            <a:r>
              <a:t>- C:\coding\project\wind-agent\backend\src\windops_backend\agents\graph.py</a:t>
            </a:r>
          </a:p>
          <a:p xmlns:a="http://schemas.openxmlformats.org/drawingml/2006/main">
            <a:r>
              <a:t>- C:\coding\project\wind-agent\backend\src\windops_backend\services\agent_governance.py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v6 让 Agent 与异常检测不只依赖手写 fixture；同时用真值隔离、失败关闭和版本化制品控制评估可信度。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WT-023 是贯穿页面的主故事。重点不是故障结论本身，而是从证据到审批、执行和知识沉淀的完整状态闭环。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C:\coding\project\wind-agent\tests\e2e\__screenshots__\dashboard-p1-incident-390.png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结尾明确项目成熟度和下一步：当前是生产候选而非已上线系统，后续价值取决于真实依赖、现场系统与发布环境的联合验收。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C:\coding\project\wind-agent\docs\demo-gap-audit.md</a:t>
            </a:r>
          </a:p>
          <a:p xmlns:a="http://schemas.openxmlformats.org/drawingml/2006/main">
            <a:r>
              <a:t>- C:\coding\project\wind-agent\public\og.png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5d58ff501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2bf7fa0a04af9" /><Relationship Type="http://schemas.openxmlformats.org/officeDocument/2006/relationships/slideLayout" Target="/ppt/slideLayouts/slideLayout1.xml" Id="R35cab6cf58a6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ab6cf58a6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d77924dfd44a1" /><Relationship Type="http://schemas.openxmlformats.org/officeDocument/2006/relationships/image" Target="/ppt/media/image.png" Id="R418a41657ee44da8" /><Relationship Type="http://schemas.openxmlformats.org/officeDocument/2006/relationships/notesSlide" Target="/ppt/notesSlides/notesSlide1.xml" Id="R4b1b118a76ec43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9a42f940d43e3" /><Relationship Type="http://schemas.openxmlformats.org/officeDocument/2006/relationships/notesSlide" Target="/ppt/notesSlides/notesSlide2.xml" Id="Rd15b896d59684b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7af0295d4f02" /><Relationship Type="http://schemas.openxmlformats.org/officeDocument/2006/relationships/notesSlide" Target="/ppt/notesSlides/notesSlide3.xml" Id="R5f9d798f5de045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3c6b53cb04a70" /><Relationship Type="http://schemas.openxmlformats.org/officeDocument/2006/relationships/image" Target="/ppt/media/image2.png" Id="Reb07d0df490e4eac" /><Relationship Type="http://schemas.openxmlformats.org/officeDocument/2006/relationships/notesSlide" Target="/ppt/notesSlides/notesSlide4.xml" Id="R955fca8dcc1a49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2b7edb32c4ffd" /><Relationship Type="http://schemas.openxmlformats.org/officeDocument/2006/relationships/notesSlide" Target="/ppt/notesSlides/notesSlide5.xml" Id="Rd94446c371824b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8a9f98eaa4291" /><Relationship Type="http://schemas.openxmlformats.org/officeDocument/2006/relationships/notesSlide" Target="/ppt/notesSlides/notesSlide6.xml" Id="R3eb2d59805b4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daaa2b8474aa4" /><Relationship Type="http://schemas.openxmlformats.org/officeDocument/2006/relationships/notesSlide" Target="/ppt/notesSlides/notesSlide7.xml" Id="Rde199f2324e64b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98ab1c633425e" /><Relationship Type="http://schemas.openxmlformats.org/officeDocument/2006/relationships/notesSlide" Target="/ppt/notesSlides/notesSlide8.xml" Id="R18f46057b7fb4d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569d32e2e4a99" /><Relationship Type="http://schemas.openxmlformats.org/officeDocument/2006/relationships/image" Target="/ppt/media/image3.png" Id="Rd7f0e6a53e9f4e6e" /><Relationship Type="http://schemas.openxmlformats.org/officeDocument/2006/relationships/notesSlide" Target="/ppt/notesSlides/notesSlide9.xml" Id="R736e82c881274a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531504c746ab" /><Relationship Type="http://schemas.openxmlformats.org/officeDocument/2006/relationships/image" Target="/ppt/media/image4.png" Id="Re47e6eafac2945d2" /><Relationship Type="http://schemas.openxmlformats.org/officeDocument/2006/relationships/notesSlide" Target="/ppt/notesSlides/notesSlide10.xml" Id="R59d02d6f898c44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66604-31A0-4633-BA7E-A98438A2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OPENVIGIL</a:t>
            </a: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 · AI-NATIVE WIND OPERATIONS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E174107-1864-450B-BF68-1A46A64E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风电运维智能体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3F195-92C5-4ABC-A632-BC111B96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把异常感知、协同诊断、人工审批与工单执行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连成一条可追踪、可恢复、可审计的业务闭环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13E2E-79B3-42C2-B9B3-97A0162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CA037-231C-41A3-A2E1-E7FF31D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项目介绍 · 10 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F8D70-A2BF-45D7-BB87-1EA2F7E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多智能体协作  ·  类型化工具  ·  Human-in-the-loop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B5D42CF6-D7F0-4E8C-A6F5-18B4006F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a41657ee44da8"/>
          <a:srcRect xmlns:a="http://schemas.openxmlformats.org/drawingml/2006/main" l="23359" t="0" r="23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29350" y="361950"/>
            <a:ext cx="5410200" cy="571500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8CBDE-70F8-48BE-8B47-86C0DCD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0313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3EC14-1292-4AD0-97FA-11BE4931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 / 项目背景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1407D2B-24E1-4C78-8F18-0C82F129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问题不是告警不足，而是处置链路断裂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83418-2D28-4668-9BF5-D57B683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52A8C-A763-4D16-BEE9-1687CCE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数据在，告警在，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经验也在。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50262-CEC1-4B17-B0CE-4DC8ADB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缺的是一条能跨越系统、角色与现场执行的可信闭环。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F9CEB-3147-4332-AF21-7B19000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83C32-D596-40E4-B995-2379F44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516F22-E6B0-42E1-8F50-CDED836B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让每一次异常都有证据、责任、审批和结果。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F1619-EB5B-464A-8240-F0DE3D9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4BA30-525C-4E76-A2D7-B3CF0CED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049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EAB0B-302E-4C65-86EB-09FDDAB9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573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数据孤岛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C50CD-E42F-41FD-8595-AF34031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002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SCADA、告警、维护记录与知识文档彼此割裂。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67C8E-159D-4392-A231-C324316F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765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E8B05-4774-458E-85D9-7D9110E3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33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45DDD-5FF2-4965-A84B-57D73076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52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AC2D7-8D00-4468-93F0-60A2E94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051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716FA-0ACC-4DF6-8197-F18B476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从异常到诊断、方案、审批和工单缺少统一状态。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74B77-FE78-4FD5-9F59-C5F33A2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425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7EB8E-38B9-4602-862B-AD13EE8C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CAEDF-8CC9-4CB1-BD3D-7B9A97E0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5C3F5-F604-41BB-82B4-7352F53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528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Agent 难以约束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F62281-5E33-4466-B1B6-5E97FF2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957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模型能给建议，但来源、权限与行动边界往往不透明。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89798-E5A2-4B43-A649-CE32D18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720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AB92C8-AAE8-4DDE-8993-B51A8BE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29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91A9C-D5FC-47DB-9C8A-2C5A0BC8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B1611-D437-48DE-8283-93ED3C9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006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执行难以追溯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DCEB3-6F97-4BF1-B15E-265799B9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435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重试和并发可能造成重复工单，现场证据难以核验。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A2B5A-A602-4DA7-AF6D-16E8E047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38705-4F4C-4630-8842-F14C8D1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3107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446437-C7E7-4016-96A5-07F5A229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 / 解决方案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9F79805-83E4-43CC-A260-B522C0D9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 把一次异常处置变成受治理的 Agent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0559F-4474-478E-B968-383FB238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2D36D-2A56-48CD-AAC8-5299DB41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每个阶段都产生结构化状态，并为下一步提供可验证输入。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1BE2-97B3-44C8-BCA7-4200950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43999-6321-4807-AD8A-76B99661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24600-5C40-4383-9746-BB536D6E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BF998-ACAA-46C5-AA17-9BC6B2F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1A3AC-D3E7-4EF5-8ACD-CA3F203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66093-A8D7-4484-A9FD-B4544749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585A-FE57-4B2F-B27A-6AFDF5EA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24B73-3F78-42CA-80D5-0AD382EF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FCACB-3BB2-45EB-991A-CED1522B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2A97D-F7EB-4F2F-9309-6F37194D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36CAE-1674-49D6-88F6-87EB4D3C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SCADA / CMS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E61C1-ACDA-4047-9508-87C8999B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C42A4-C738-4DC0-82BE-D3C08E3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EA9C4-E617-4D72-B469-B4EE8E0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CCBA3-29D5-4852-9475-7DB36120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Alarm +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586367-335C-4F95-AB83-9A727ADC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78554-8F2D-4898-B2BF-DC1B8E8C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ABC8D-469A-4CA4-9FE9-2A0421C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6E2B01-9081-4C9D-9D83-89CA08B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专业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F648C-A960-43EA-BDF9-D41E04A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407A0-42C7-42A4-9E94-F78D7C5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93C04-961D-484A-8167-30F6CF6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B53047-5EF3-48F9-81CC-D6FED99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16ABE-B603-4200-9E5D-7A865FF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761C3E-519E-4EC3-9B0D-E232DA5B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30BD2-B3ED-4ACD-8367-A6DF267F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D64E2E-CE82-43D3-A0CB-B25C1329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候选方案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00046-8278-4626-A0CA-83AEB723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E002CF-0176-481B-8CFA-E4D7DA67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E38BFE-FB0E-4D27-ADAE-B94905BB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F7902E-59CB-4F15-8382-6CAE6F39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评审 + 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F56BD0-6D7C-4773-BE4C-61E58B9D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531456-6759-4FBA-BD9E-08EC78E1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DA1823-5B60-4388-A7BA-15F93F5A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F28A5-78E4-4E14-A576-5B48E617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Work Order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AE8A74-E658-4C69-BC51-DF2F390C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28447F-37F3-4CEF-8074-D2A21A08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989DA4-938F-4EC3-A932-5EC1072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CC7B7-6222-4795-B5E2-3E78B7A4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20C55E-783D-441F-B0B8-9DD9594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074A1C-799F-4898-B419-24163084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类型化工具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16016-7C24-4086-8F19-944DF3E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事实来自受限查询与确定性计算，写入动作只暴露领域命令。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9ED58B-EC61-43C2-9F20-EFBB6046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4A2444-C27A-4D49-8CD6-0AC0002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人工硬门禁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BF2DFF-34E8-467A-AFBD-00CA47A0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方案必须经过多角色评审；高风险动作只有审批后才能执行。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21E518-8447-475B-B58C-480BCC4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1CF0E8-30E5-4DDF-8A1A-8433D9A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全链路审计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E678BF-F2F5-411B-8CFF-37028098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工具输入输出、证据、决策、版本、耗时和错误都可追踪。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A8C4A6-159C-45A4-A858-F5CF298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BA5CB4-8B8C-47F9-88A7-765950F9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229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7AC9B-43CA-4317-8E9E-096E681E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 / 产品体验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66D6E79-2174-43E4-BEAC-36AE2FC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一个运营工作台覆盖从风场态势到现场闭环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0A221-16F7-47B2-A533-887288E4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43DC2-E905-448B-9D72-1B359E8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首页同时回答：整个风场正在发生什么？AI 正在处理什么？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7E140-E266-4839-871C-014EF07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7d0df490e4eac"/>
          <a:srcRect xmlns:a="http://schemas.openxmlformats.org/drawingml/2006/main" l="0" t="4188" r="0" b="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2019300"/>
            <a:ext cx="7905750" cy="407670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C87B6-6A72-4565-8327-C3DA0BC0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D11AF-9346-46CE-AC81-E79AD15C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18775-B230-482D-82C4-0EF328F4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核心闭环页面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4E077-844C-432F-AD89-9E40451C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运营中心、风场、风机、SCADA、告警、Agent、Mission、决策与工单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FC75F-46EF-4E2A-9C59-08E71EF5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D98971-12C3-4557-A1A6-00C3B57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62CB2-BD3A-40EB-B8BC-A7202D53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专业 / 平台工作区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8B30F-0F99-4F65-A45F-22E69508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97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健康、预测维护、资源、知识、报告、数字孪生、数据、模型与设置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E256D-1061-43EE-BA18-33093E6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43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统一主故事：WT-023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5CE7A-7D6C-471C-B4D8-6A7F553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1812-BCCB-44B9-B037-AB3E9F23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9196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C0A712-8F47-4018-B337-92061B40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 / AGENT 设计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E0696A25-17E1-432A-8823-D4568C1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多智能体的价值是职责隔离，而不是角色堆叠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21D13-5FB0-4AB6-BA24-A2E0799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0F45D-922A-4AFB-A4BE-995C02A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演示工作区组织 22 个 Agent；生产候选以 11 个类型化业务工具约束真实行动。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A3FAF-C183-4AFD-A60B-105767F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17F19-26DB-49D0-B6FA-F5576D66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Decision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63E3-CFBD-4CAA-A7E9-CB4DB504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读取数据、形成证据、提出受约束方案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B1C9E-575C-45CE-93C6-9F052F44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8DE36-2FD6-41E8-B63F-3E3D71B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F8FEC-13CC-44C0-8B6F-E4EA19A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SCADA / 振动 / 历史案例分析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5D5F1-5D6E-4DDD-9BA7-39FAE0A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3596C-82FB-4452-89AF-1589FD0E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健康度与 RUL 确定性计算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71FE9-9C1F-4E7E-B8EC-6FF30AD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CA640-AC79-4D09-8C04-984048D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生成 3 个候选维护方案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B850E-DFDB-4300-9121-85CF48D2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4ECEC-914A-49F2-A80C-F4371B9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 Evidence 与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82C59-DF91-48F3-B1B3-C13CB92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FE7A4-245E-4FB5-90AE-15ADBB7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Review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717CE-CD81-42EE-A84A-306821D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工程、安全、资源与经济性独立评审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99E4F-0A9F-4767-9FF6-CD6251A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72DB0-05DE-498A-B610-0432EF5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85774-22E0-4794-A5E1-898758C7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不同角色拥有不同权限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D7A39-7102-4442-B7CA-CAD0FB3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2C56B-3688-43A4-97A7-232DFA4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每个结论必须引用公开证据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70DFA-C10A-4AA8-8DEA-E7CFFBBF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154E5-DA42-44C7-8248-93763C23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不确定信息明确失败或升级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51EFB-BE13-4911-88F0-0922B8A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AC3769-1726-4FD3-B17B-D175D5C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人工批准 / 拒绝 / 退修 / 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790997-AC10-4A55-81B8-A4AE3273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C429F9-9082-44AF-8B5C-7D422E4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Execution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12315C-ACBA-4F19-8A25-4A9180C1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审批后执行，并以现场证据完成闭环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E5C5AC-9F95-4969-BEA3-8950678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D3325-47F8-4867-B793-550E7185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454CB2-978C-44CE-8035-0304EF5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原子预留班组、船舶与备件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09A0BB-9014-4138-8D39-8EB95818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432951-3CC0-489A-A48A-18133AA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按治理顺序完成现场任务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5F29D-4D1F-4ACB-A42D-409D1526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6768C-92D3-4924-AD9A-32CA65E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URI + SHA-256 + measurement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3CCEA6-4BC7-4E28-B721-A1F75ED0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993D8C-50F9-4AE4-8E8E-36BA777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回写健康度并生成知识案例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00EC82-0BC3-4913-804F-912ACF05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BC94DE-642E-467C-B0A7-E692C20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工程价值 = 独立权限 + 独立验收标准 + 可追踪交接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5970C-DD0A-45B0-92DF-32F89E4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0D0B76-6636-4F4F-81FA-77437D41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7108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74455C-D914-4E2B-A1C4-5F3A155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 / 系统架构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87144083-AD5A-43E7-AAEA-D665F58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双运行架构兼顾稳定演示与生产候选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ACB8E-341E-4B3F-80BF-FC63783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744EA-60B2-4926-BFFB-856D6F9F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共享前端领域契约，但数据来源、身份边界与执行可信度严格隔离。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026A3-53AE-465F-B9E9-BE88DF80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C69D2-8365-4B88-BFD6-342F7EB6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8B28-F22D-4D31-AE75-26B6148A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482F-C8B9-4059-AA80-C3705FC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2A322-E7F4-463B-93FA-257F657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8FB05-EA60-4F78-AAA4-9689D0F4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4EA5-B667-4140-8C21-2E92188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EFDAD-E671-473A-BA60-B9341310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753F6-4168-45CB-A6A8-352ACB50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DEMO · 可重复演示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F97F0-7C69-414E-9566-F448AE30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PRODUCTION CANDIDATE · 受治理执行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76D9C-ED6C-4094-AB56-55DA4A6B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0E4F2-ADA6-45F2-9D03-56493BB6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React 19 运营工作区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D7951-D934-4D31-A4B6-089EC3A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08E79-7605-4EA2-B492-6E55C95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Worker API + D1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C6068-AB4E-4BDF-B9F2-C642E3A3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B2F40-9C9E-40F8-8E83-AE5E5BE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17-tool 确定性运行时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40D3-9A2D-41FE-B3AB-0A9136D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0FF8D-701A-43EA-A0DE-E07CA207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用途：稳定演示、截图与回归测试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5BD771-99BF-48C9-9B62-5692311F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38A61-FBBF-4A8F-8A17-A2B4CF9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身份网关 + 路由白名单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449F5-353E-4AEF-93DB-F5C1C14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DA666-BB10-427A-A601-7B748AC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FastAPI + LangGraph + LiteLLM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75697-E818-4200-9CE5-E004FDB2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DE0C7-0463-4A73-B79B-6E32637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PostgreSQL / TimescaleDB / pgvector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005565-AA0A-4860-8926-824F84A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0B37C-E675-4076-9924-99494DE1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Redis / MinIO / Neo4j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03D2C-BEBE-41A6-92E8-30AB7AD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93714-8CB7-443B-851A-14EC129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用途：真实依赖下的可靠、可审计执行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28DB32-E204-48A0-A50D-BD8FA5BA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9525">
            <a:solidFill>
              <a:srgbClr val="D48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FDD093-1B60-4230-BADC-299BDF35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10F3D7-BA6B-4139-8517-4C7A6F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结果不等于生产 Agent 调用；生产候选仍需真实身份、模型供应商、现场系统与发布环境联合验收。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324F1E-362B-4D11-9D75-C49C8400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38A52D-DDA5-48FC-830A-849531B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1089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CA56A-7662-4876-98FD-90B9246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 / 工程治理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5C42230-A8C3-459E-9AE5-D475DB3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关键动作由四道工程门禁共同约束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F6FA8-90DA-4B25-A34A-A3AF764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FE563-D17D-45AA-8360-ACD51ED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Prompt 负责推理引导；真正的权限、状态与提交由服务端控制。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C5FA1-40A7-4FF9-A810-7B1FE72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C7F93-454D-4171-B301-0CDFDD51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CEAA1-26E0-4786-9751-3560251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Mission、Decision、Approval、Work Order 的转换由服务端校验，模型文本不能伪造“已批准”。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DD287-975B-400D-B6B2-1A2846E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72FBC-12F2-427A-AF39-32B3E73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926D8-846F-4D94-A13C-1746340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62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8B9E0-243D-47A9-B0A9-49FD578F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622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Pydantic / JSON Schema、租户与资产范围、最小权限工具；不提供任意 SQL、Shell 或万能写接口。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639AD-94B0-41D7-B13A-3ECABB05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2443E-FD48-44BC-A385-B33D0BE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FA27B-27AF-474B-9F91-9B5B956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可靠执行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A6B0A-3092-4D59-9CCF-36CC767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Idempotency-Key、revision / CAS、transactional outbox、可恢复租约与 fencing token 共同处理重试和并发。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D07F0-AC04-4A70-811B-2336A30A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D6D1B-37AE-45CF-ABE5-69B054C7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D8B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B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726C5-959F-4603-94A3-E0CAA95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证据与人工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49008-6991-44EF-9607-F1608132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2442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Evidence → Decision → 多角色评审 → HITL；现场任务必须提交 URI、SHA-256 与结构化 measurement。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04FBB9-E4F4-42A5-A401-8C33FF6F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B2548-00C2-4AA4-9F59-B8E57A0C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71675"/>
            <a:ext cx="2371725" cy="39052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D003F8-4294-466D-8F5E-70226E6F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审计可见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3F1DF-40C5-45BD-B143-FF23EEF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E418C-406E-426D-8436-FFE44C35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E53C5-DDB7-41DE-BF11-C64651C1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工具输入 /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0B05B9-7AE6-4581-9CD7-6630F05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6B01C-E6BF-49B6-817F-7C1378FA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证据与来源引用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0507C-3330-4569-BB0C-C35F6F9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13CAC-5AB0-4520-99FF-8D07E9A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模型与版本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B8C08E-AAF2-4BE0-A5B8-F3F727B7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AE285F-ABCA-4D9B-8CDD-4DB7199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延迟、token 与错误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99275-CA06-4106-A899-22EFB534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D2315-1A5E-4144-B84D-387A39EB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审批与现场凭证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08B9E-F259-45A3-AE2D-9F546182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673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不保存或伪造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隐藏 Chain-of-Thought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B57D6B-FABE-4D58-B8E0-235F0F6E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F767EF-DBFB-43C2-A159-F07FB94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2045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8DA6EA-2C84-4299-ADD0-A4954382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 / 数据与评估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2EB84D8-F965-492E-B571-4BDB67A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真实数据评估把模型效果纳入可发布的工程门禁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2F886-50EC-4B10-8F07-F937D05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EDF5-E600-4D98-8F9D-BA4605A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CARE v6 路径覆盖数据合同、质量、真值隔离、离线评估与有界在线回放。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4698F-F65D-4B63-86AC-999B855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E2B2D-1DF9-4D45-97CA-7E115B3B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5,242,948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51D61-BA4B-4329-937D-96A795C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028D1-2FD0-4AAF-BEC9-D6632601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101 个 CSV，95 个事件；原始数据只读，不进入仓库。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7C8A1-0882-4AE2-BE78-B245C8A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FFA54-BCC2-4CD8-A555-B493B460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EC4E-4E36-467E-A5E4-D6A4212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场内留一资产 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43C74-5B58-4709-ADAF-4C90096A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覆盖 95 个事件；失败与不可评分也计入汇总。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19331-BF1D-4366-A4D0-D309826D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3B21C-D492-46D8-9D4F-76E2A1C4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281,249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C0552-5601-42ED-9F90-96BD2A2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预测点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96CB5-BB7A-429C-986A-B1DCA26F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预测先冻结，最终 evaluator 才能读取真值。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C315F-FB69-44F1-960D-898F7FB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候选门禁结果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9FFF3-D251-42B6-919E-12A907AD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rPr>
              <a:t>12 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D9BBA-300B-462E-B32A-0A7C8C28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33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rPr>
              <a:t>24 未通过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E0397-6A84-4837-89A4-5540B251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E99A9F-03B3-483C-BB2B-C9127D5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38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B2B82-6769-4B2E-A89C-27946373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失败候选完整登记，不用删除样本换取更好指标。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78AC7-B4A4-4372-A5AB-C7C201F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374F1-B780-4F9B-A934-61F16178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170E4-A679-449D-95A5-62FB6286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8A8CF-EF6B-43FE-B3D5-E472820D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CD23E-00DD-482B-ADC7-8F3F88A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146EAA-257F-4A60-A786-A39500A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只读源数据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6C888-AE4C-462D-9718-0846E84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授权位置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463040-074D-4D2D-8F4A-2D4998C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49176-C12C-4BEE-ADB9-68662DF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合同与质量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CC2A8-710A-40D8-A385-2C6DB1F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unknown / missing 失败关闭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E207C9-9E2D-4AD7-A5DB-D05DBB8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BB377E-6FD0-43D9-801D-96182E03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宽表 Parquet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3186D-E6B3-4652-A57E-D71B202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分块、列裁剪、有界内存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8E89A-3F63-45C0-81AA-F7EB6E0F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C549A6-8B46-4080-B316-6A28158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LOAO 评估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CA08E1-18E2-48EE-8EBC-37D64EEF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场内泛化，不宣称跨场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64932F-DA69-4747-8A4E-3E3B1DC7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21418D-851F-4F63-BE9A-8B5A1DA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有界回放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4458F-B274-4C54-BEAB-8D14DB0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prediction → Alarm → 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77A88-7802-44CC-A39D-1F47501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10275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数据口径：仓库记录的 2026-08-27/29 本地候选与只读复核证据，不等同于生产上线。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9DAFE0-E936-4C96-B4D7-E50261F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66E541-3DE9-477E-B202-14CF3950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4190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0702D4-41B6-4040-AF57-6AA6751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 / 业务案例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B0AEBA5-A783-4950-937F-5023C7F9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WT-023 展示从异常到闭环的完整业务价值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A9397-1273-40D7-B19E-844B82D3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4BC9-E864-4605-84D0-3E5A725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主轴承振动、温度与多变量异常共同触发 P1 事件。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56E6E-8FEF-4813-82B9-B7F7231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714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0e6a53e9f4e6e"/>
          <a:stretch xmlns:a="http://schemas.openxmlformats.org/drawingml/2006/main"/>
        </p:blipFill>
        <p:spPr>
          <a:xfrm xmlns:a="http://schemas.openxmlformats.org/drawingml/2006/main" flipH="0" flipV="0">
            <a:off x="876492" y="2143125"/>
            <a:ext cx="3066666" cy="1276350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F0A7F-0071-4ED2-831B-1E9DBE6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振动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5AA8B-4CD6-405C-8843-1353B43A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4.81 mm/s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493C-5FF8-41E0-AC53-0F5BA45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6346-AFD1-4D2B-8920-F7A0DD6E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B6CD4-8360-4625-AEE1-5A3386F4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主轴承温度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92F25-9BAD-4E78-939F-31801C1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76.4°C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F7665-D865-448F-A6F4-5F6D633B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75°C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CEEE5-16D5-498E-A15A-7369215F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F80C6-AF9F-4354-AB64-75471A1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78ED3-6F65-4FBD-8DC2-60582F7B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A9805-399A-469F-B2FF-E9563D0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0.65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B0049-73C4-4521-AC91-004F31B5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EB06C-AE66-4F61-BFFC-76BAF5D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87B8A-41B4-4AB8-A026-DE548CD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E536E-9DE3-420E-A655-948DF6BE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43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E6B72-3625-4983-817C-FA18639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异常触发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8881E-CF76-4525-8924-421D195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955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 样本、Alarm、Mission 与 outbox event 在同一事务提交。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D494A8-6947-4C99-8449-A4266B58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AF806-782F-4D4E-842B-686046A8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B3371-546F-4D27-BD57-80B8963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协同诊断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D4E68-F9ED-4F46-A11B-DD80700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242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Agent 查询时序、振动、历史维护与相似案例，形成结构化 Evidence。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63265-3A66-463E-A48C-C00E7890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4BE01-460F-400A-903D-E1DC058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00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4404C-BFB9-4EF5-B6A9-0030E42F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方案与审批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F5E7E2-C475-4641-97BC-D992872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529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生成 A / B / C 三个方案，多角色评审后由人工批准或退修。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89580-6491-4F74-B654-B00F37C0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BC892-FE4C-402E-A44D-0D7B844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29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4B7D2-3929-4BE2-A864-87486C1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现场闭环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07541-5E21-45DA-A255-54050C2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816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 项任务逐项提交证据；健康度回写至 82，并生成知识案例。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F2254-6B4D-420D-925C-A17D0A1A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24550"/>
            <a:ext cx="66294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66224-D1E5-49C6-8812-5BAF053B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展示的不是一次 LLM 回复，而是一条完整、可审计的业务状态变化。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9B71D4-C6C6-4A6B-8475-0245F8C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OpenVigil</a:t>
            </a: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 · 风电运维智能体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39B861-5705-4DDE-B056-091E855C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7e6eafac2945d2"/>
          <a:srcRect xmlns:a="http://schemas.openxmlformats.org/drawingml/2006/main" l="21389" t="0" r="2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05550" y="0"/>
            <a:ext cx="5886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DD496-C4A0-44EE-953D-70752023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09 / 总结与下一步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1B95A70-54DC-4058-8429-E6C61491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从“可演示”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走向“可验收”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4DE04-1102-4F62-A31F-EE6EBFC7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当前已具备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D027-63B1-4D22-8DF0-F902D752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6D64D-8C7D-480B-A64E-7D91ECC4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端到端异常处置闭环与统一业务状态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3CE78-0E48-4C03-93AC-B125399B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92F20-7DB6-475B-BC2F-17AA043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受约束多 Agent、类型化工具与人工门禁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689FB-DD41-4420-B576-EF824DF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1F1AC-818C-4174-9788-546C2A6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/ Production Candidate 双运行边界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D6283-E756-465C-B5B1-6AC979BE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09059-134F-499E-AD46-411FCED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672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CARE v6 数据评估与工程质量门禁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76EE3-F280-46A8-A74D-0476C901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31471-C8FD-413A-8E72-2C6B46F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3E471-49AF-40B6-ACA9-FBEF99F4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真实身份与模型供应商联调 · 现场 SCADA/CMS/EAM 接入 · 签名制品与集群准入 · 风场试点指标与 SOP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04206-39B6-4423-B527-2EFED216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让 Agent 在工业现场可用、可控、可追责。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F295D-2B42-420A-B48E-30524256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9323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2026-09-05T14:20:42.9030000Z</dcterms:created>
  <dcterms:modified xsi:type="dcterms:W3CDTF">2026-09-05T14:20:42.9030000Z</dcterms:modified>
</coreProperties>
</file>