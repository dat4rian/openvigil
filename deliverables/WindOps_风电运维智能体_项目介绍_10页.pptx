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e7c08794454d4d" /><Relationship Type="http://schemas.openxmlformats.org/officeDocument/2006/relationships/extended-properties" Target="/docProps/app.xml" Id="R1ee851b0e53d4417" /><Relationship Type="http://schemas.openxmlformats.org/officeDocument/2006/relationships/officeDocument" Target="/ppt/presentation.xml" Id="R14586e8936bf48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7e998c2ad04c89"/>
  </p:sldMasterIdLst>
  <p:notesMasterIdLst>
    <p:notesMasterId xmlns:r="http://schemas.openxmlformats.org/officeDocument/2006/relationships" r:id="R770f4e2e38984108"/>
  </p:notesMasterIdLst>
  <p:sldIdLst>
    <p:sldId xmlns:r="http://schemas.openxmlformats.org/officeDocument/2006/relationships" id="256" r:id="Rf1cf9a8f2085469f"/>
    <p:sldId xmlns:r="http://schemas.openxmlformats.org/officeDocument/2006/relationships" id="257" r:id="R8d9225778f7f4807"/>
    <p:sldId xmlns:r="http://schemas.openxmlformats.org/officeDocument/2006/relationships" id="258" r:id="R61095da3b0c647f9"/>
    <p:sldId xmlns:r="http://schemas.openxmlformats.org/officeDocument/2006/relationships" id="259" r:id="R801be25f48ec4aaa"/>
    <p:sldId xmlns:r="http://schemas.openxmlformats.org/officeDocument/2006/relationships" id="260" r:id="R1050b13a5b844238"/>
    <p:sldId xmlns:r="http://schemas.openxmlformats.org/officeDocument/2006/relationships" id="261" r:id="Rbc3c439d50204afe"/>
    <p:sldId xmlns:r="http://schemas.openxmlformats.org/officeDocument/2006/relationships" id="262" r:id="R03975054c43e47d8"/>
    <p:sldId xmlns:r="http://schemas.openxmlformats.org/officeDocument/2006/relationships" id="263" r:id="R44b218c2c1b24158"/>
    <p:sldId xmlns:r="http://schemas.openxmlformats.org/officeDocument/2006/relationships" id="264" r:id="R28a45a9eec6848d1"/>
    <p:sldId xmlns:r="http://schemas.openxmlformats.org/officeDocument/2006/relationships" id="265" r:id="R93d4e7ea000947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81155cd3884ef6" /><Relationship Type="http://schemas.openxmlformats.org/officeDocument/2006/relationships/slideMaster" Target="/ppt/slideMasters/slideMaster1.xml" Id="R857e998c2ad04c89" /><Relationship Type="http://schemas.openxmlformats.org/officeDocument/2006/relationships/notesMaster" Target="/ppt/notesMasters/notesMaster1.xml" Id="R770f4e2e38984108" /><Relationship Type="http://schemas.openxmlformats.org/officeDocument/2006/relationships/presProps" Target="/ppt/presProps.xml" Id="R0a26f47f484a4ef0" /><Relationship Type="http://schemas.openxmlformats.org/officeDocument/2006/relationships/tableStyles" Target="/ppt/tableStyles.xml" Id="Rc293a2358bba4e96" /><Relationship Type="http://schemas.openxmlformats.org/officeDocument/2006/relationships/slide" Target="/ppt/slides/slide1.xml" Id="Rf1cf9a8f2085469f" /><Relationship Type="http://schemas.openxmlformats.org/officeDocument/2006/relationships/slide" Target="/ppt/slides/slide2.xml" Id="R8d9225778f7f4807" /><Relationship Type="http://schemas.openxmlformats.org/officeDocument/2006/relationships/slide" Target="/ppt/slides/slide3.xml" Id="R61095da3b0c647f9" /><Relationship Type="http://schemas.openxmlformats.org/officeDocument/2006/relationships/slide" Target="/ppt/slides/slide4.xml" Id="R801be25f48ec4aaa" /><Relationship Type="http://schemas.openxmlformats.org/officeDocument/2006/relationships/slide" Target="/ppt/slides/slide5.xml" Id="R1050b13a5b844238" /><Relationship Type="http://schemas.openxmlformats.org/officeDocument/2006/relationships/slide" Target="/ppt/slides/slide6.xml" Id="Rbc3c439d50204afe" /><Relationship Type="http://schemas.openxmlformats.org/officeDocument/2006/relationships/slide" Target="/ppt/slides/slide7.xml" Id="R03975054c43e47d8" /><Relationship Type="http://schemas.openxmlformats.org/officeDocument/2006/relationships/slide" Target="/ppt/slides/slide8.xml" Id="R44b218c2c1b24158" /><Relationship Type="http://schemas.openxmlformats.org/officeDocument/2006/relationships/slide" Target="/ppt/slides/slide9.xml" Id="R28a45a9eec6848d1" /><Relationship Type="http://schemas.openxmlformats.org/officeDocument/2006/relationships/slide" Target="/ppt/slides/slide10.xml" Id="R93d4e7ea000947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0a67bd2bdc41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31ce5842154ea2" /><Relationship Type="http://schemas.openxmlformats.org/officeDocument/2006/relationships/notesMaster" Target="/ppt/notesMasters/notesMaster1.xml" Id="Rd2ca181f88d644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cc287e670f480b" /><Relationship Type="http://schemas.openxmlformats.org/officeDocument/2006/relationships/notesMaster" Target="/ppt/notesMasters/notesMaster1.xml" Id="R73c8789a945f42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9588dfa51d4d19" /><Relationship Type="http://schemas.openxmlformats.org/officeDocument/2006/relationships/notesMaster" Target="/ppt/notesMasters/notesMaster1.xml" Id="R7450e795c57243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83747bb191445c" /><Relationship Type="http://schemas.openxmlformats.org/officeDocument/2006/relationships/notesMaster" Target="/ppt/notesMasters/notesMaster1.xml" Id="R8bfb7e3c1a924e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b71e76fd7e48e8" /><Relationship Type="http://schemas.openxmlformats.org/officeDocument/2006/relationships/notesMaster" Target="/ppt/notesMasters/notesMaster1.xml" Id="R830bd4f41fe543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c55093679d47a4" /><Relationship Type="http://schemas.openxmlformats.org/officeDocument/2006/relationships/notesMaster" Target="/ppt/notesMasters/notesMaster1.xml" Id="R4219614144c549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a707fa63714fd1" /><Relationship Type="http://schemas.openxmlformats.org/officeDocument/2006/relationships/notesMaster" Target="/ppt/notesMasters/notesMaster1.xml" Id="R9ad22e426eee45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d5dc7f5ab4447f" /><Relationship Type="http://schemas.openxmlformats.org/officeDocument/2006/relationships/notesMaster" Target="/ppt/notesMasters/notesMaster1.xml" Id="Rbb52a32b12a348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f7a46ec71642ad" /><Relationship Type="http://schemas.openxmlformats.org/officeDocument/2006/relationships/notesMaster" Target="/ppt/notesMasters/notesMaster1.xml" Id="Rd47a91b35fba49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50767e81cb4f32" /><Relationship Type="http://schemas.openxmlformats.org/officeDocument/2006/relationships/notesMaster" Target="/ppt/notesMasters/notesMaster1.xml" Id="R8e22255b158b41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开场用一句话定义项目：WindOps 不是聊天界面，而是面向风电异常处置的受治理智能体闭环。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C:\coding\project\wind-agent\README.md</a:t>
            </a:r>
          </a:p>
          <a:p xmlns:a="http://schemas.openxmlformats.org/drawingml/2006/main">
            <a:r>
              <a:t>- C:\coding\project\wind-agent\public\windops-command-center.png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这一页把技术工作转译为业务问题：WindOps 的核心目标是闭环，而不是增加一个告警列表或聊天框。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C:\coding\project\wind-agent\docs\agent-engineer-interview-project-introduction.md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沿着箭头讲清主线：数据触发 Mission，多 Agent 产生证据和方案，人类批准后才进入工单，现场结果再沉淀为知识。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C:\coding\project\wind-agent\README.md</a:t>
            </a:r>
          </a:p>
          <a:p xmlns:a="http://schemas.openxmlformats.org/drawingml/2006/main">
            <a:r>
              <a:t>- C:\coding\project\wind-agent\docs\agent-engineer-interview-project-introduction.md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强调页面并非孤立展示：Dashboard、Mission、Decision、Work Order、Health 与 Knowledge 读取同一业务故事和服务器状态。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C:\coding\project\wind-agent\README.md</a:t>
            </a:r>
          </a:p>
          <a:p xmlns:a="http://schemas.openxmlformats.org/drawingml/2006/main">
            <a:r>
              <a:t>- C:\coding\project\wind-agent\docs\design\windops-operations-command-center-concept-v2.png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区分 UI 中的 Agent 组织与生产工具合同：多 Agent 不是为了增加角色名，而是为了把职责、权限和验收拆开。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C:\coding\project\wind-agent\README.md</a:t>
            </a:r>
          </a:p>
          <a:p xmlns:a="http://schemas.openxmlformats.org/drawingml/2006/main">
            <a:r>
              <a:t>- C:\coding\project\wind-agent\backend\src\windops_backend\services\seed.py</a:t>
            </a:r>
          </a:p>
          <a:p xmlns:a="http://schemas.openxmlformats.org/drawingml/2006/main">
            <a:r>
              <a:t>- C:\coding\project\wind-agent\backend\src\windops_backend\agents\tools.py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这一页主动说明诚实边界：双运行形态是架构选择，不应把 Demo 结果包装成生产执行。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C:\coding\project\wind-agent\README.md</a:t>
            </a:r>
          </a:p>
          <a:p xmlns:a="http://schemas.openxmlformats.org/drawingml/2006/main">
            <a:r>
              <a:t>- C:\coding\project\wind-agent\backend\README.md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技术亮点不是模型会说什么，而是模型不能越过什么：状态机、工具合同、权限、幂等和证据门禁共同构成行动边界。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C:\coding\project\wind-agent\docs\agent-engineer-interview-project-introduction.md</a:t>
            </a:r>
          </a:p>
          <a:p xmlns:a="http://schemas.openxmlformats.org/drawingml/2006/main">
            <a:r>
              <a:t>- C:\coding\project\wind-agent\backend\src\windops_backend\agents\graph.py</a:t>
            </a:r>
          </a:p>
          <a:p xmlns:a="http://schemas.openxmlformats.org/drawingml/2006/main">
            <a:r>
              <a:t>- C:\coding\project\wind-agent\backend\src\windops_backend\services\agent_governance.py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 v6 让 Agent 与异常检测不只依赖手写 fixture；同时用真值隔离、失败关闭和版本化制品控制评估可信度。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C:\coding\project\wind-agent\README.md</a:t>
            </a:r>
          </a:p>
          <a:p xmlns:a="http://schemas.openxmlformats.org/drawingml/2006/main">
            <a:r>
              <a:t>- C:\coding\project\wind-agent\docs\agent-engineer-interview-project-introduction.md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WT-023 是贯穿页面的主故事。重点不是故障结论本身，而是从证据到审批、执行和知识沉淀的完整状态闭环。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C:\coding\project\wind-agent\README.md</a:t>
            </a:r>
          </a:p>
          <a:p xmlns:a="http://schemas.openxmlformats.org/drawingml/2006/main">
            <a:r>
              <a:t>- C:\coding\project\wind-agent\tests\e2e\__screenshots__\dashboard-p1-incident-390.png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结尾明确项目成熟度和下一步：当前是生产候选而非已上线系统，后续价值取决于真实依赖、现场系统与发布环境的联合验收。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C:\coding\project\wind-agent\README.md</a:t>
            </a:r>
          </a:p>
          <a:p xmlns:a="http://schemas.openxmlformats.org/drawingml/2006/main">
            <a:r>
              <a:t>- C:\coding\project\wind-agent\docs\demo-gap-audit.md</a:t>
            </a:r>
          </a:p>
          <a:p xmlns:a="http://schemas.openxmlformats.org/drawingml/2006/main">
            <a:r>
              <a:t>- C:\coding\project\wind-agent\public\og.png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58de8c79b441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850cedf46247d3" /><Relationship Type="http://schemas.openxmlformats.org/officeDocument/2006/relationships/slideLayout" Target="/ppt/slideLayouts/slideLayout1.xml" Id="Rb10da19e2cb649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0da19e2cb649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f853ae4bb4e55" /><Relationship Type="http://schemas.openxmlformats.org/officeDocument/2006/relationships/image" Target="/ppt/media/image.jpeg" Id="Rd0664b5f069d4d5d" /><Relationship Type="http://schemas.openxmlformats.org/officeDocument/2006/relationships/notesSlide" Target="/ppt/notesSlides/notesSlide1.xml" Id="R074d8378d4f345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6f434e773435b" /><Relationship Type="http://schemas.openxmlformats.org/officeDocument/2006/relationships/notesSlide" Target="/ppt/notesSlides/notesSlide2.xml" Id="R6be5d2458c534f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460880acc4fa5" /><Relationship Type="http://schemas.openxmlformats.org/officeDocument/2006/relationships/notesSlide" Target="/ppt/notesSlides/notesSlide3.xml" Id="R0f117447537244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7ef071885468c" /><Relationship Type="http://schemas.openxmlformats.org/officeDocument/2006/relationships/image" Target="/ppt/media/image.png" Id="R6046d49700314e1b" /><Relationship Type="http://schemas.openxmlformats.org/officeDocument/2006/relationships/notesSlide" Target="/ppt/notesSlides/notesSlide4.xml" Id="Rfde7434d117e42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6c441824d4986" /><Relationship Type="http://schemas.openxmlformats.org/officeDocument/2006/relationships/notesSlide" Target="/ppt/notesSlides/notesSlide5.xml" Id="Rdaa1340c2c9f42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6f0b39cee4701" /><Relationship Type="http://schemas.openxmlformats.org/officeDocument/2006/relationships/notesSlide" Target="/ppt/notesSlides/notesSlide6.xml" Id="R074763dda27e47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f1c9d451d4d42" /><Relationship Type="http://schemas.openxmlformats.org/officeDocument/2006/relationships/notesSlide" Target="/ppt/notesSlides/notesSlide7.xml" Id="Rf3501ffe3ede41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7f5354e6b4007" /><Relationship Type="http://schemas.openxmlformats.org/officeDocument/2006/relationships/notesSlide" Target="/ppt/notesSlides/notesSlide8.xml" Id="Rfa010e4fa5bb41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76024ac424234" /><Relationship Type="http://schemas.openxmlformats.org/officeDocument/2006/relationships/image" Target="/ppt/media/image2.png" Id="R06b6d3d7e32e412b" /><Relationship Type="http://schemas.openxmlformats.org/officeDocument/2006/relationships/notesSlide" Target="/ppt/notesSlides/notesSlide9.xml" Id="Re3afccdd2d114f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5fab6c64241dc" /><Relationship Type="http://schemas.openxmlformats.org/officeDocument/2006/relationships/image" Target="/ppt/media/image3.png" Id="Rf3ba33f6d99442a2" /><Relationship Type="http://schemas.openxmlformats.org/officeDocument/2006/relationships/notesSlide" Target="/ppt/notesSlides/notesSlide10.xml" Id="R8f434625c64144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66604-31A0-4633-BA7E-A98438A2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WINDOPS · AI-NATIVE WIND OPERATIONS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E174107-1864-450B-BF68-1A46A64E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风电运维智能体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3F195-92C5-4ABC-A632-BC111B96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把异常感知、协同诊断、人工审批与工单执行</a:t>
            </a:r>
          </a:p>
          <a:p xmlns:a="http://schemas.openxmlformats.org/drawingml/2006/main">
            <a:pPr algn="l">
              <a:defRPr sz="18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连成一条可追踪、可恢复、可审计的业务闭环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13E2E-79B3-42C2-B9B3-97A01626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CA037-231C-41A3-A2E1-E7FF31D0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项目介绍 · 10 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F8D70-A2BF-45D7-BB87-1EA2F7EE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509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rPr>
              <a:t>多智能体协作  ·  类型化工具  ·  Human-in-the-loop</a:t>
            </a:r>
          </a:p>
        </p:txBody>
      </p:sp>
      <p:sp>
        <p:nvSpPr>
          <p:cNvPr id="7" name="cover-image-frame">
            <a:extLst xmlns:a="http://schemas.openxmlformats.org/drawingml/2006/main">
              <a:ext uri="{FF2B5EF4-FFF2-40B4-BE49-F238E27FC236}">
                <a16:creationId xmlns:a16="http://schemas.microsoft.com/office/drawing/2014/main" id="{B5D42CF6-D7F0-4E8C-A6F5-18B4006F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1950"/>
            <a:ext cx="5410200" cy="5715000"/>
          </a:xfrm>
          <a:prstGeom xmlns:a="http://schemas.openxmlformats.org/drawingml/2006/main" prst="roundRect">
            <a:avLst>
              <a:gd name="adj" fmla="val 2465"/>
            </a:avLst>
          </a:prstGeom>
          <a:solidFill xmlns:a="http://schemas.openxmlformats.org/drawingml/2006/main">
            <a:srgbClr val="E8EEF0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64b5f069d4d5d"/>
          <a:srcRect xmlns:a="http://schemas.openxmlformats.org/drawingml/2006/main" l="23359" t="0" r="233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29350" y="361950"/>
            <a:ext cx="5410200" cy="5715000"/>
          </a:xfrm>
          <a:prstGeom xmlns:a="http://schemas.openxmlformats.org/drawingml/2006/main" prst="roundRect">
            <a:avLst>
              <a:gd name="adj" fmla="val 246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8CBDE-70F8-48BE-8B47-86C0DCD9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103139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23EC14-1292-4AD0-97FA-11BE4931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01 / 项目背景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01407D2B-24E1-4C78-8F18-0C82F129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问题不是告警不足，而是处置链路断裂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83418-2D28-4668-9BF5-D57B6838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52A8C-A763-4D16-BEE9-1687CCE4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38325"/>
            <a:ext cx="3714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数据在，告警在，</a:t>
            </a:r>
          </a:p>
          <a:p xmlns:a="http://schemas.openxmlformats.org/drawingml/2006/main">
            <a:pPr algn="l">
              <a:defRPr sz="31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经验也在。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50262-CEC1-4B17-B0CE-4DC8ADBE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390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rPr>
              <a:t>缺的是一条能跨越系统、角色与现场执行的可信闭环。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F9CEB-3147-4332-AF21-7B190008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76725"/>
            <a:ext cx="352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83C32-D596-40E4-B995-2379F44A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516F22-E6B0-42E1-8F50-CDED836B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让每一次异常都有证据、责任、审批和结果。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0F1619-EB5B-464A-8240-F0DE3D92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85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A4BA30-525C-4E76-A2D7-B3CF0CED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0497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BEAB0B-302E-4C65-86EB-09FDDAB9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657350"/>
            <a:ext cx="599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数据孤岛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AC50CD-E42F-41FD-8595-AF34031F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000250"/>
            <a:ext cx="599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SCADA、告警、维护记录与知识文档彼此割裂。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E67C8E-159D-4392-A231-C324316F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476500"/>
            <a:ext cx="5991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EE8B05-4774-458E-85D9-7D9110E3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7336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A45DDD-5FF2-4965-A84B-57D73076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7527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3AC2D7-8D00-4468-93F0-60A2E947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705100"/>
            <a:ext cx="599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决策断点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6716FA-0ACC-4DF6-8197-F18B4760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048000"/>
            <a:ext cx="599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从异常到诊断、方案、审批和工单缺少统一状态。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574B77-FE78-4FD5-9F59-C5F33A28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524250"/>
            <a:ext cx="5991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67EB8E-38B9-4602-862B-AD13EE8C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814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7CAEDF-8CC9-4CB1-BD3D-7B9A97E0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0047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F5C3F5-F604-41BB-82B4-7352F53A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752850"/>
            <a:ext cx="599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Agent 难以约束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F62281-5E33-4466-B1B6-5E97FF23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095750"/>
            <a:ext cx="599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模型能给建议，但来源、权限与行动边界往往不透明。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D89798-E5A2-4B43-A649-CE32D189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572000"/>
            <a:ext cx="5991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AB92C8-AAE8-4DDE-8993-B51A8BEB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8291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B91A9C-D5FC-47DB-9C8A-2C5A0BC8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8482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1B1611-D437-48DE-8283-93ED3C9E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800600"/>
            <a:ext cx="599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执行难以追溯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1DCEB3-6F97-4BF1-B15E-265799B9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143500"/>
            <a:ext cx="599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重试和并发可能造成重复工单，现场证据难以核验。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EA2B5A-A602-4DA7-AF6D-16E8E047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WindOps · 风电运维智能体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138705-4F4C-4630-8842-F14C8D1C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531078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8446437-C7E7-4016-96A5-07F5A229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02 / 解决方案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29F79805-83E4-43CC-A260-B522C0D9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WindOps 把一次异常处置变成受治理的 Agent 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0559F-4474-478E-B968-383FB238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2D36D-2A56-48CD-AAC8-5299DB41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每个阶段都产生结构化状态，并为下一步提供可验证输入。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41BE2-97B3-44C8-BCA7-4200950E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955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43999-6321-4807-AD8A-76B99661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955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24600-5C40-4383-9746-BB536D6E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955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BF998-ACAA-46C5-AA17-9BC6B2FE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955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1A3AC-D3E7-4EF5-8ACD-CA3F203A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955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966093-A8D7-4484-A9FD-B4544749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955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B585A-FE57-4B2F-B27A-6AFDF5EA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6955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224B73-3F78-42CA-80D5-0AD382EF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120015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FCACB-3BB2-45EB-991A-CED1522B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812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B2A97D-F7EB-4F2F-9309-6F37194D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67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感知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436CAE-1674-49D6-88F6-87EB4D3C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981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0"/>
                </a:solidFill>
                <a:latin typeface="Arial"/>
                <a:ea typeface="Arial"/>
                <a:cs typeface="Arial"/>
              </a:rPr>
              <a:t>SCADA / CMS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EE61C1-ACDA-4047-9508-87C8999B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286000"/>
            <a:ext cx="120015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AC42A4-C738-4DC0-82BE-D3C08E3D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3812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7EA9C4-E617-4D72-B469-B4EE8E0F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667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触发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DCCBA3-29D5-4852-9475-7DB36120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981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0"/>
                </a:solidFill>
                <a:latin typeface="Arial"/>
                <a:ea typeface="Arial"/>
                <a:cs typeface="Arial"/>
              </a:rPr>
              <a:t>Alarm + Mission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586367-335C-4F95-AB83-9A727ADC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86000"/>
            <a:ext cx="120015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D78554-8F2D-4898-B2BF-DC1B8E8C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3812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2ABC8D-469A-4CA4-9FE9-2A0421CC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67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协作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6E2B01-9081-4C9D-9D83-89CA08B9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81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0"/>
                </a:solidFill>
                <a:latin typeface="Arial"/>
                <a:ea typeface="Arial"/>
                <a:cs typeface="Arial"/>
              </a:rPr>
              <a:t>专业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DF648C-A960-43EA-BDF9-D41E04A6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86000"/>
            <a:ext cx="120015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D407A0-42C7-42A4-9E94-F78D7C52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812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693C04-961D-484A-8167-30F6CF6D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67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取证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B53047-5EF3-48F9-81CC-D6FED998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81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0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F16ABE-B603-4200-9E5D-7A865FFB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120015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761C3E-519E-4EC3-9B0D-E232DA5B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812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E30BD2-B3ED-4ACD-8367-A6DF267F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67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决策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D64E2E-CE82-43D3-A0CB-B25C1329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981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0"/>
                </a:solidFill>
                <a:latin typeface="Arial"/>
                <a:ea typeface="Arial"/>
                <a:cs typeface="Arial"/>
              </a:rPr>
              <a:t>候选方案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600046-8278-4626-A0CA-83AEB723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86000"/>
            <a:ext cx="120015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E002CF-0176-481B-8CFA-E4D7DA67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3812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E38BFE-FB0E-4D27-ADAE-B94905BB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667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把关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F7902E-59CB-4F15-8382-6CAE6F39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981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0"/>
                </a:solidFill>
                <a:latin typeface="Arial"/>
                <a:ea typeface="Arial"/>
                <a:cs typeface="Arial"/>
              </a:rPr>
              <a:t>评审 + 审批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F56BD0-6D7C-4773-BE4C-61E58B9D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86000"/>
            <a:ext cx="120015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531456-6759-4FBA-BD9E-08EC78E1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3812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DA1823-5B60-4388-A7BA-15F93F5A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667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4F28A5-78E4-4E14-A576-5B48E617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981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0"/>
                </a:solidFill>
                <a:latin typeface="Arial"/>
                <a:ea typeface="Arial"/>
                <a:cs typeface="Arial"/>
              </a:rPr>
              <a:t>Work Order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AE8A74-E658-4C69-BC51-DF2F390C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286000"/>
            <a:ext cx="120015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DDF4F2"/>
          </a:solidFill>
          <a:ln xmlns:a="http://schemas.openxmlformats.org/drawingml/2006/main" w="9525">
            <a:solidFill>
              <a:srgbClr val="1AA7A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28447F-37F3-4CEF-8074-D2A21A08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3812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989DA4-938F-4EC3-A932-5EC10720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667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沉淀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0CC7B7-6222-4795-B5E2-3E78B7A4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981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0"/>
                </a:solidFill>
                <a:latin typeface="Arial"/>
                <a:ea typeface="Arial"/>
                <a:cs typeface="Arial"/>
              </a:rPr>
              <a:t>Knowledge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20C55E-783D-441F-B0B8-9DD95947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074A1C-799F-4898-B419-24163084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96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类型化工具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416016-7C24-4086-8F19-944DF3EF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事实来自受限查询与确定性计算，写入动作只暴露领域命令。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9ED58B-EC61-43C2-9F20-EFBB6046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21005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D4A2444-C27A-4D49-8CD6-0AC0002B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4196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人工硬门禁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3BF2DFF-34E8-467A-AFBD-00CA47A0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87680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方案必须经过多角色评审；高风险动作只有审批后才能执行。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21E518-8447-475B-B58C-480BCC4E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1005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F1CF0E8-30E5-4DDF-8A1A-8433D9A5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196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全链路审计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5E678BF-F2F5-411B-8CFF-37028098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7680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工具输入输出、证据、决策、版本、耗时和错误都可追踪。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6A8C4A6-159C-45A4-A858-F5CF2982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WindOps · 风电运维智能体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6BA5CB4-8B8C-47F9-88A7-765950F9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82291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C7AC9B-43CA-4317-8E9E-096E681E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03 / 产品体验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D66D6E79-2174-43E4-BEAC-36AE2FC5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一个运营工作台覆盖从风场态势到现场闭环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0A221-16F7-47B2-A533-887288E4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43DC2-E905-448B-9D72-1B359E81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首页同时回答：整个风场正在发生什么？AI 正在处理什么？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7E140-E266-4839-871C-014EF070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7905750" cy="4076700"/>
          </a:xfrm>
          <a:prstGeom xmlns:a="http://schemas.openxmlformats.org/drawingml/2006/main" prst="roundRect">
            <a:avLst>
              <a:gd name="adj" fmla="val 2336"/>
            </a:avLst>
          </a:prstGeom>
          <a:solidFill xmlns:a="http://schemas.openxmlformats.org/drawingml/2006/main">
            <a:srgbClr val="E8EEF0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46d49700314e1b"/>
          <a:srcRect xmlns:a="http://schemas.openxmlformats.org/drawingml/2006/main" l="0" t="4188" r="0" b="4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019300"/>
            <a:ext cx="7905750" cy="4076700"/>
          </a:xfrm>
          <a:prstGeom xmlns:a="http://schemas.openxmlformats.org/drawingml/2006/main" prst="roundRect">
            <a:avLst>
              <a:gd name="adj" fmla="val 233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C87B6-6A72-4565-8327-C3DA0BC0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19300"/>
            <a:ext cx="2781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D11AF-9346-46CE-AC81-E79AD15C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57425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18775-B230-482D-82C4-0EF328F4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1942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核心闭环页面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4E077-844C-432F-AD89-9E40451C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运营中心、风场、风机、SCADA、告警、Agent、Mission、决策与工单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5FC75F-46EF-4E2A-9C59-08E71EF5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10025"/>
            <a:ext cx="2781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D98971-12C3-4557-A1A6-00C3B57E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4815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62CB2-BD3A-40EB-B8BC-A7202D53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101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专业 / 平台工作区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98B30F-0F99-4F65-A45F-22E69508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19725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健康、预测维护、资源、知识、报告、数字孪生、数据、模型与设置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9E256D-1061-43EE-BA18-33093E67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4357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rPr>
              <a:t>统一主故事：WT-023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85CE7A-7D6C-471C-B4D8-6A7F553F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WindOps · 风电运维智能体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F41812-BCCB-44B9-B037-AB3E9F23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591964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5C0A712-8F47-4018-B337-92061B40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04 / AGENT 设计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E0696A25-17E1-432A-8823-D4568C12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多智能体的价值是职责隔离，而不是角色堆叠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21D13-5FB0-4AB6-BA24-A2E07999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0F45D-922A-4AFB-A4BE-995C02AD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演示工作区组织 22 个 Agent；生产候选以 11 个类型化业务工具约束真实行动。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A3FAF-C183-4AFD-A60B-105767F4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AA7A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AA7A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17F19-26DB-49D0-B6FA-F5576D66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Decision Layer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663E3-CFBD-4CAA-A7E9-CB4DB504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读取数据、形成证据、提出受约束方案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7B1C9E-575C-45CE-93C6-9F052F44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28975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8DE36-2FD6-41E8-B63F-3E3D71B5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52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4F8FEC-13CC-44C0-8B6F-E4EA19A4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SCADA / 振动 / 历史案例分析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5D5F1-5D6E-4DDD-9BA7-39FAE0A2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05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13596C-82FB-4452-89AF-1589FD0E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健康度与 RUL 确定性计算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71FE9-9C1F-4E7E-B8EC-6FF30ADC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57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0CA640-AC79-4D09-8C04-984048D3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生成 3 个候选维护方案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2B850E-DFDB-4300-9121-85CF48D2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0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74ECEC-914A-49F2-A80C-F4371B9A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输出 Evidence 与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382C59-DF91-48F3-B1B3-C13CB923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002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D48A1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D48A1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1FE7A4-245E-4FB5-90AE-15ADBB7A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098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Review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F717CE-CD81-42EE-A84A-306821D3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098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工程、安全、资源与经济性独立评审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999E4F-0A9F-4767-9FF6-CD6251A0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28975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372DB0-05DE-498A-B610-0432EF57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52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B85774-22E0-4794-A5E1-898758C7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42900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不同角色拥有不同权限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7D7A39-7102-4442-B7CA-CAD0FB3B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05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22C56B-3688-43A4-97A7-232DFA4E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8145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每个结论必须引用公开证据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E70DFA-C10A-4AA8-8DEA-E7CFFBBF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57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9154E5-DA42-44C7-8248-93763C23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53390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不确定信息明确失败或升级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C51EFB-BE13-4911-88F0-0922B8AB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210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AC3769-1726-4FD3-B17B-D175D5CF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08635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人工批准 / 拒绝 / 退修 / 升级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790997-AC10-4A55-81B8-A4AE3273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002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D94C5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D94C5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C429F9-9082-44AF-8B5C-7D422E49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Execution Layer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12315C-ACBA-4F19-8A25-4A9180C1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098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审批后执行，并以现场证据完成闭环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E5C5AC-9F95-4969-BEA3-89506783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28975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5D3325-47F8-4867-B793-550E7185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52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454CB2-978C-44CE-8035-0304EF51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2900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原子预留班组、船舶与备件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09A0BB-9014-4138-8D39-8EB95818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05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432951-3CC0-489A-A48A-18133AA8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8145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按治理顺序完成现场任务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F5F29D-4D1F-4ACB-A42D-409D1526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57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86768C-92D3-4924-AD9A-32CA65E5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3390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URI + SHA-256 + measurement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3CCEA6-4BC7-4E28-B721-A1F75ED0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10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993D8C-50F9-4AE4-8E8E-36BA7770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8635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回写健康度并生成知识案例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00EC82-0BC3-4913-804F-912ACF05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871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D26"/>
          </a:solidFill>
          <a:ln xmlns:a="http://schemas.openxmlformats.org/drawingml/2006/main" w="9525">
            <a:solidFill>
              <a:srgbClr val="0B1D2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BC94DE-642E-467C-B0A7-E692C202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工程价值 = 独立权限 + 独立验收标准 + 可追踪交接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05970C-DD0A-45B0-92DF-32F89E4F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WindOps · 风电运维智能体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0D0B76-6636-4F4F-81FA-77437D41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571089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74455C-D914-4E2B-A1C4-5F3A1550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05 / 系统架构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87144083-AD5A-43E7-AAEA-D665F581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双运行架构兼顾稳定演示与生产候选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ACB8E-341E-4B3F-80BF-FC637838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744EA-60B2-4926-BFFB-856D6F9F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共享前端领域契约，但数据来源、身份边界与执行可信度严格隔离。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026A3-53AE-465F-B9E9-BE88DF80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705100"/>
            <a:ext cx="26670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C69D2-8365-4B88-BFD6-342F7EB6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429000"/>
            <a:ext cx="26670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BF8B28-F22D-4D31-AE75-26B6148A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52900"/>
            <a:ext cx="26670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FF482F-C8B9-4059-AA80-C3705FC6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05100"/>
            <a:ext cx="26670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22A322-E7F4-463B-93FA-257F6574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429000"/>
            <a:ext cx="26670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28FB05-EA60-4F78-AAA4-9689D0F4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152900"/>
            <a:ext cx="26670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F44EA5-B667-4140-8C21-2E92188D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14525"/>
            <a:ext cx="5334000" cy="3286125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DDF4F2"/>
          </a:solidFill>
          <a:ln xmlns:a="http://schemas.openxmlformats.org/drawingml/2006/main" w="9525">
            <a:solidFill>
              <a:srgbClr val="1AA7A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EFDAD-E671-473A-BA60-B9341310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14525"/>
            <a:ext cx="5334000" cy="3286125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A753F6-4168-45CB-A6A8-352ACB50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DEMO · 可重复演示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EF97F0-7C69-414E-9566-F448AE30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PRODUCTION CANDIDATE · 受治理执行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976D9C-ED6C-4094-AB56-55DA4A6B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24125"/>
            <a:ext cx="4686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90E4F2-ADA6-45F2-9D03-56493BB6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445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React 19 运营工作区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6D7951-D934-4D31-A4B6-089EC3A8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4686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B08E79-7605-4EA2-B492-6E55C958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445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Sites Worker API + D1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BC6068-AB4E-4BDF-B9F2-C642E3A3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71925"/>
            <a:ext cx="4686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1B2F40-9C9E-40F8-8E83-AE5E5BE1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445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17-tool 确定性运行时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6640D3-9A2D-41FE-B3AB-0A9136D0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95825"/>
            <a:ext cx="4686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D26"/>
          </a:solidFill>
          <a:ln xmlns:a="http://schemas.openxmlformats.org/drawingml/2006/main" w="9525">
            <a:solidFill>
              <a:srgbClr val="0B1D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80FF8D-701A-43EA-A0DE-E07CA207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81550"/>
            <a:ext cx="445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用途：稳定演示、截图与回归测试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5BD771-99BF-48C9-9B62-5692311F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24125"/>
            <a:ext cx="4686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F38A61-FBBF-4A8F-8A17-A2B4CF9D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09850"/>
            <a:ext cx="445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Sites 身份网关 + 路由白名单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1449F5-353E-4AEF-93DB-F5C1C146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48025"/>
            <a:ext cx="4686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9DA666-BB10-427A-A601-7B748AC5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33750"/>
            <a:ext cx="445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FastAPI + LangGraph + LiteLLM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E75697-E818-4200-9CE5-E004FDB2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71925"/>
            <a:ext cx="2266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BDE0C7-0463-4A73-B79B-6E326375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5765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PostgreSQL / TimescaleDB / pgvector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005565-AA0A-4860-8926-824F84A4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71925"/>
            <a:ext cx="2266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D0B37C-E675-4076-9924-99494DE1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5765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Redis / MinIO / Neo4j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803D2C-BEBE-41A6-92E8-30AB7AD6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5825"/>
            <a:ext cx="4686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D26"/>
          </a:solidFill>
          <a:ln xmlns:a="http://schemas.openxmlformats.org/drawingml/2006/main" w="9525">
            <a:solidFill>
              <a:srgbClr val="0B1D2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693714-8CB7-443B-851A-14EC129C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81550"/>
            <a:ext cx="445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用途：真实依赖下的可靠、可审计执行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28DB32-E204-48A0-A50D-BD8FA5BA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11087100" cy="74295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FFF1D5"/>
          </a:solidFill>
          <a:ln xmlns:a="http://schemas.openxmlformats.org/drawingml/2006/main" w="9525">
            <a:solidFill>
              <a:srgbClr val="D48A1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FDD093-1B60-4230-BADC-299BDF35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483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48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48A12"/>
                </a:solidFill>
                <a:latin typeface="Microsoft YaHei"/>
                <a:ea typeface="Microsoft YaHei"/>
                <a:cs typeface="Microsoft YaHei"/>
              </a:rPr>
              <a:t>运行边界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10F3D7-BA6B-4139-8517-4C7A6F9E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6197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Demo 结果不等于生产 Agent 调用；生产候选仍需真实身份、模型供应商、现场系统与发布环境联合验收。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324F1E-362B-4D11-9D75-C49C8400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WindOps · 风电运维智能体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38A52D-DDA5-48FC-830A-849531BF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110891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CCA56A-7662-4876-98FD-90B9246A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06 / 工程治理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C5C42230-A8C3-459E-9AE5-D475DB34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关键动作由四道工程门禁共同约束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F6FA8-90DA-4B25-A34A-A3AF764C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FE563-D17D-45AA-8360-ACD51EDF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Prompt 负责推理引导；真正的权限、状态与提交由服务端控制。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C5FA1-40A7-4FF9-A810-7B1FE72A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AA7A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AA7A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C7F93-454D-4171-B301-0CDFDD51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812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状态机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BCEAA1-26E0-4786-9751-3560251A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981200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Mission、Decision、Approval、Work Order 的转换由服务端校验，模型文本不能伪造“已批准”。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FDD287-975B-400D-B6B2-1A2846E3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71775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572FBC-12F2-427A-AF39-32B3E731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03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48A1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48A1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C926D8-846F-4D94-A13C-17463401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622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工具与权限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88B9E0-243D-47A9-B0A9-49FD578F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62275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Pydantic / JSON Schema、租户与资产范围、最小权限工具；不提供任意 SQL、Shell 或万能写接口。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F639AD-94B0-41D7-B13A-3ECABB05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5285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42443E-FD48-44BC-A385-B33D0BE3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4C5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94C5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CFA27B-27AF-474B-9F91-9B5B9562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可靠执行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8A6B0A-3092-4D59-9CCF-36CC767F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943350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Idempotency-Key、revision / CAS、transactional outbox、可恢复租约与 fencing token 共同处理重试和并发。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7D07F0-AC04-4A70-811B-2336A30A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33925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2D6D1B-37AE-45CF-ABE5-69B054C7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625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D8B6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D8B6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8726C5-959F-4603-94A3-E0CAA953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244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证据与人工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649008-6991-44EF-9607-F1608132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924425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Evidence → Decision → 多角色评审 → HITL；现场任务必须提交 URI、SHA-256 与结构化 measurement。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04FBB9-E4F4-42A5-A401-8C33FF6F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150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6B2548-00C2-4AA4-9F59-B8E57A0C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971675"/>
            <a:ext cx="2371725" cy="390525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0B1D26"/>
          </a:solidFill>
          <a:ln xmlns:a="http://schemas.openxmlformats.org/drawingml/2006/main" w="9525">
            <a:solidFill>
              <a:srgbClr val="0B1D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D003F8-4294-466D-8F5E-70226E6F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38375"/>
            <a:ext cx="1876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审计可见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D3F1DF-40C5-45BD-B143-FF23EEF5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7813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EE418C-406E-426D-8436-FFE44C35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43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FE53C5-DDB7-41DE-BF11-C64651C1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289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工具输入 / 输出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0B05B9-7AE6-4581-9CD7-6630F055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81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C6B01C-E6BF-49B6-817F-7C1378FA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4671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证据与来源引用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40507C-3330-4569-BB0C-C35F6F91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19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813CAC-5AB0-4520-99FF-8D07E9AA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905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模型与版本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B8C08E-AAF2-4BE0-A5B8-F3F727B7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457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AE285F-ABCA-4D9B-8CDD-4DB71997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3434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延迟、token 与错误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099275-CA06-4106-A899-22EFB534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95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8D2315-1A5E-4144-B84D-387A39EB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7815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审批与现场凭证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308B9E-F259-45A3-AE2D-9F546182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5267325"/>
            <a:ext cx="1876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48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48A12"/>
                </a:solidFill>
                <a:latin typeface="Microsoft YaHei"/>
                <a:ea typeface="Microsoft YaHei"/>
                <a:cs typeface="Microsoft YaHei"/>
              </a:rPr>
              <a:t>不保存或伪造</a:t>
            </a:r>
          </a:p>
          <a:p xmlns:a="http://schemas.openxmlformats.org/drawingml/2006/main">
            <a:pPr algn="l">
              <a:defRPr sz="1200" b="1">
                <a:solidFill>
                  <a:srgbClr val="D48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48A12"/>
                </a:solidFill>
                <a:latin typeface="Microsoft YaHei"/>
                <a:ea typeface="Microsoft YaHei"/>
                <a:cs typeface="Microsoft YaHei"/>
              </a:rPr>
              <a:t>隐藏 Chain-of-Thought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B57D6B-FABE-4D58-B8E0-235F0F6E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WindOps · 风电运维智能体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F767EF-DBFB-43C2-A159-F07FB94A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820458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F8DA6EA-2C84-4299-ADD0-A4954382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07 / 数据与评估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62EB84D8-F965-492E-B571-4BDB67AA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真实数据评估把模型效果纳入可发布的工程门禁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2F886-50EC-4B10-8F07-F937D050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3EDF5-E600-4D98-8F9D-BA4605AB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CARE v6 路径覆盖数据合同、质量、真值隔离、离线评估与有界在线回放。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4698F-F65D-4B63-86AC-999B8556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28825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E2B2D-1DF9-4D45-97CA-7E115B3B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5,242,948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51D61-BA4B-4329-937D-96A795C2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数据行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2028D1-2FD0-4AAF-BEC9-D6632601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385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101 个 CSV，95 个事件；原始数据只读，不进入仓库。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E7C8A1-0882-4AE2-BE78-B245C8A4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28825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FFA54-BCC2-4CD8-A555-B493B460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04EC4E-4E36-467E-A5E4-D6A4212C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289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场内留一资产 fold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43C74-5B58-4709-ADAF-4C90096A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385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覆盖 95 个事件；失败与不可评分也计入汇总。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619331-BF1D-4366-A4D0-D309826D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28825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73B21C-D492-46D8-9D4F-76E2A1C4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669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281,249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2C0552-5601-42ED-9F90-96BD2A2C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预测点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C96CB5-BB7A-429C-986A-B1DCA26F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385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预测先冻结，最终 evaluator 才能读取真值。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FC315F-FB69-44F1-960D-898F7FB9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候选门禁结果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29FFF3-D251-42B6-919E-12A907AD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D8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D8B69"/>
                </a:solidFill>
                <a:latin typeface="Microsoft YaHei"/>
                <a:ea typeface="Microsoft YaHei"/>
                <a:cs typeface="Microsoft YaHei"/>
              </a:rPr>
              <a:t>12 通过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ED9BBA-300B-462E-B32A-0A7C8C28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9339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4C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D94C57"/>
                </a:solidFill>
                <a:latin typeface="Microsoft YaHei"/>
                <a:ea typeface="Microsoft YaHei"/>
                <a:cs typeface="Microsoft YaHei"/>
              </a:rPr>
              <a:t>24 未通过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6E0397-6A84-4837-89A4-5540B251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387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E99A9F-03B3-483C-BB2B-C9127D5C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3877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DB2B82-6769-4B2E-A89C-27946373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失败候选完整登记，不用删除样本换取更好指标。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778AC7-B4A4-4372-A5AB-C7C201FB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286375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6374F1-B780-4F9B-A934-61F16178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286375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A170E4-A679-449D-95A5-62FB6286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286375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48A8CF-EF6B-43FE-B3D5-E472820D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286375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ACD23E-00DD-482B-ADC7-8F3F88A7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95825"/>
            <a:ext cx="1143000" cy="12001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146EAA-257F-4A60-A786-A39500A1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95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只读源数据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E6C888-AE4C-462D-9718-0846E845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578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授权位置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463040-074D-4D2D-8F4A-2D4998CF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695825"/>
            <a:ext cx="1143000" cy="12001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549176-C12C-4BEE-ADB9-68662DFA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95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合同与质量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BCC2A8-710A-40D8-A385-2C6DB1FF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2578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unknown / missing 失败关闭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E207C9-9E2D-4AD7-A5DB-D05DBB8C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95825"/>
            <a:ext cx="1143000" cy="12001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BB377E-6FD0-43D9-801D-96182E03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95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宽表 Parquet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23186D-E6B3-4652-A57E-D71B2027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578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分块、列裁剪、有界内存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B8E89A-3F63-45C0-81AA-F7EB6E0F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95825"/>
            <a:ext cx="1143000" cy="12001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C549A6-8B46-4080-B316-6A28158A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895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LOAO 评估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CA08E1-18E2-48EE-8EBC-37D64EEF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2578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场内泛化，不宣称跨场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64932F-DA69-4747-8A4E-3E3B1DC7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695825"/>
            <a:ext cx="1143000" cy="12001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DF4F2"/>
          </a:solidFill>
          <a:ln xmlns:a="http://schemas.openxmlformats.org/drawingml/2006/main" w="9525">
            <a:solidFill>
              <a:srgbClr val="1AA7A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21418D-851F-4F63-BE9A-8B5A1DA9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895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有界回放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14458F-B274-4C54-BEAB-8D14DB06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2578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prediction → Alarm → Mission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977A88-7802-44CC-A39D-1F475016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010275"/>
            <a:ext cx="687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数据口径：仓库记录的 2026-08-27/29 本地候选与只读复核证据，不等同于生产上线。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9DAFE0-E936-4C96-B4D7-E50261F2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WindOps · 风电运维智能体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66E541-3DE9-477E-B202-14CF3950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341902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0702D4-41B6-4040-AF57-6AA6751A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08 / 业务案例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1B0AEBA5-A783-4950-937F-5023C7F9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WT-023 展示从异常到闭环的完整业务价值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A9397-1273-40D7-B19E-844B82D3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C4BC9-E864-4605-84D0-3E5A7252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主轴承振动、温度与多变量异常共同触发 P1 事件。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56E6E-8FEF-4813-82B9-B7F7231E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3714750" cy="156210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6d3d7e32e412b"/>
          <a:stretch xmlns:a="http://schemas.openxmlformats.org/drawingml/2006/main"/>
        </p:blipFill>
        <p:spPr>
          <a:xfrm xmlns:a="http://schemas.openxmlformats.org/drawingml/2006/main">
            <a:off x="876492" y="2143125"/>
            <a:ext cx="3066666" cy="1276350"/>
          </a:xfrm>
          <a:prstGeom xmlns:a="http://schemas.openxmlformats.org/drawingml/2006/main" prst="roundRect">
            <a:avLst>
              <a:gd name="adj" fmla="val 522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F0A7F-0071-4ED2-831B-1E9DBE6E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振动 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A5AA8B-4CD6-405C-8843-1353B43A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29050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4C5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4C57"/>
                </a:solidFill>
                <a:latin typeface="Arial"/>
                <a:ea typeface="Arial"/>
                <a:cs typeface="Arial"/>
              </a:rPr>
              <a:t>4.81 mm/s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C493C-5FF8-41E0-AC53-0F5BA450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671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阈值 4.5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B6346-AFD1-4D2B-8920-F7A0DD6E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9575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BB6CD4-8360-4625-AEE1-5A3386F4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主轴承温度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92F25-9BAD-4E78-939F-31801C18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57700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48A1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48A12"/>
                </a:solidFill>
                <a:latin typeface="Arial"/>
                <a:ea typeface="Arial"/>
                <a:cs typeface="Arial"/>
              </a:rPr>
              <a:t>76.4°C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DF7665-D865-448F-A6F4-5F6D633B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958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阈值 75°C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CEEE5-16D5-498E-A15A-7369215F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48225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FF80C6-AF9F-4354-AB64-75471A1B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24450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异常分数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B78ED3-6F65-4FBD-8DC2-60582F7B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086350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A7A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A7A1"/>
                </a:solidFill>
                <a:latin typeface="Arial"/>
                <a:ea typeface="Arial"/>
                <a:cs typeface="Arial"/>
              </a:rPr>
              <a:t>0.86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BA9805-399A-469F-B2FF-E9563D0C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1244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阈值 0.65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BB0049-73C4-4521-AC91-004F31B5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76875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DEB06C-AE66-4F61-BFFC-76BAF5D6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105025"/>
            <a:ext cx="2857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F87B8A-41B4-4AB8-A026-DE548CDD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95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5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CE536E-9DE3-420E-A655-948DF6BE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431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7E6B72-3625-4983-817C-FA186397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240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异常触发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88881E-CF76-4525-8924-421D1958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95525"/>
            <a:ext cx="604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SCADA 样本、Alarm、Mission 与 outbox event 在同一事务提交。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D494A8-6947-4C99-8449-A4266B58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24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2AF806-782F-4D4E-842B-686046A8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718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FB3371-546F-4D27-BD57-80B89630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527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协同诊断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0D4E68-F9ED-4F46-A11B-DD807006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24225"/>
            <a:ext cx="604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Agent 查询时序、振动、历史维护与相似案例，形成结构化 Evidence。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F63265-3A66-463E-A48C-C00E7890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152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54BE01-460F-400A-903D-E1DC0581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2005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E4404C-BFB9-4EF5-B6A9-0030E42F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9814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方案与审批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F5E7E2-C475-4641-97BC-D9928727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52925"/>
            <a:ext cx="604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生成 A / B / C 三个方案，多角色评审后由人工批准或退修。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389580-6491-4F74-B654-B00F37C0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181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CBC892-FE4C-402E-A44D-0D7B8449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2292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94B7D2-3929-4BE2-A864-87486C13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0101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现场闭环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A07541-5E21-45DA-A255-54050C2C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381625"/>
            <a:ext cx="604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5 项任务逐项提交证据；健康度回写至 82，并生成知识案例。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0F2254-6B4D-420D-925C-A17D0A1A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924550"/>
            <a:ext cx="6629400" cy="3714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1D26"/>
          </a:solidFill>
          <a:ln xmlns:a="http://schemas.openxmlformats.org/drawingml/2006/main" w="9525">
            <a:solidFill>
              <a:srgbClr val="0B1D2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366224-D1E5-49C6-8812-5BAF053B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000750"/>
            <a:ext cx="624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展示的不是一次 LLM 回复，而是一条完整、可审计的业务状态变化。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9B71D4-C6C6-4A6B-8475-0245F8C7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WindOps · 风电运维智能体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39B861-5705-4DDE-B056-091E855C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568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a33f6d99442a2"/>
          <a:srcRect xmlns:a="http://schemas.openxmlformats.org/drawingml/2006/main" l="21389" t="0" r="21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550" y="0"/>
            <a:ext cx="58864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DD496-C4A0-44EE-953D-70752023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rPr>
              <a:t>09 / 总结与下一步</a:t>
            </a:r>
          </a:p>
        </p:txBody>
      </p:sp>
      <p:sp>
        <p:nvSpPr>
          <p:cNvPr id="3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E1B95A70-54DC-4058-8429-E6C61491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从“可演示”</a:t>
            </a:r>
          </a:p>
          <a:p xmlns:a="http://schemas.openxmlformats.org/drawingml/2006/main">
            <a:pPr algn="l">
              <a:defRPr sz="39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走向“可验收”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4DE04-1102-4F62-A31F-EE6EBFC7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rPr>
              <a:t>当前已具备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1D027-63B1-4D22-8DF0-F902D752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6D64D-8C7D-480B-A64E-7D91ECC4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81325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端到端异常处置闭环与统一业务状态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33CE78-0E48-4C03-93AC-B125399B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92F20-7DB6-475B-BC2F-17AA043F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0995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受约束多 Agent、类型化工具与人工门禁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689FB-DD41-4420-B576-EF824DFE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1F1AC-818C-4174-9788-546C2A67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38575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Demo / Production Candidate 双运行边界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CD6283-E756-465C-B5B1-6AC979BE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91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209059-134F-499E-AD46-411FCEDD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6720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CARE v6 数据评估与工程质量门禁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876EE3-F280-46A8-A74D-0476C901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387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D31471-C8FD-413A-8E72-2C6B46F8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577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48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48A12"/>
                </a:solidFill>
                <a:latin typeface="Microsoft YaHei"/>
                <a:ea typeface="Microsoft YaHei"/>
                <a:cs typeface="Microsoft YaHei"/>
              </a:rPr>
              <a:t>下一阶段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C3E471-49AF-40B6-ACA9-FBEF99F4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57825"/>
            <a:ext cx="514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真实身份与模型供应商联调 · 现场 SCADA/CMS/EAM 接入 · 签名制品与集群准入 · 风场试点指标与 SOP 验收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04206-39B6-4423-B527-2EFED216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3887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rPr>
              <a:t>让 Agent 在工业现场可用、可控、可追责。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8F295D-2B42-420A-B48E-30524256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693232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2026-08-31T01:55:25.6560000Z</dcterms:created>
  <dcterms:modified xsi:type="dcterms:W3CDTF">2026-08-31T01:55:25.6560000Z</dcterms:modified>
</coreProperties>
</file>